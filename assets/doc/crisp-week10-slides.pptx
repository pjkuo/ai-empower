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講解 30 分鐘" id="{4dafce14-8ca7-0054-755a-7c9a81b4734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實習 15 分鐘" id="{51f9a8b1-db5b-e895-9a11-e9083481ceb2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【00:00–01:00】開場。今天只做一件事：把「問 AI」變成「交代 AI 做事，再驗收」。五個字母 C R I S P 就是交代的清單。前 30 分鐘講方法、看真實案例，後 15 分鐘每個人用 CRISP 提示工坊做出一張自己的提示，並親手驗證一次 AI 的答案。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【01:00–02:00】看時間軸：講解 30 分鐘、實習 15 分鐘。三個目標：寫得出、抓得到、交得出。今天結束前，每個人要在工坊按一次「交件上傳」。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【02:00–05:00】先讓學生猜：模糊版 AI 會回什麼？請 2 位學生說。再投影 CRISP 版：同一個 AI，因為 C 給了數字、S 寫清楚等號、P 要求測試，答案直接變成可以跑、可以驗收的程式。重點句：「不是 AI 不聰明，是我們沒交代。」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【05:00–07:00】總覽五個面向。這是本課固定的 CRISP 定義：C 背景、R 角色、I 指令、S 規格、P 驗證。每個面向問自己一句話，少一個，AI 就自己猜。接下來每個字母一張投影片、各 2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【07:00–09:00】C 背景。三種資訊：我是誰、在做什麼、細節數字。細節沒給，AI 就會編。附檔是 C 的一部分，但一定要真的上傳——等一下會看到 AI 假裝讀過附檔的真實案例。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【09:00–11:00】R 角色。兩個定位：AI 扮演誰（專家視角）、說給誰聽（決定深淺）。示範：把對象從「大一新生」換成「評審老師」，AI 的用詞立刻改變。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【11:00–13:00】I 指令。任務要寫成交代句。提問形式四選一：IPO 架構最常用（和我們的專題流程一致）；分步驟適合大任務，每步停下來確認；先問我適合自己也還沒想清楚；比較方案適合要做決定。常見卡關：把五要素寫成五個問題丟給 AI。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【13:00–15:00】S 規格。格式決定你能不能驗收：表格最好對答案，圖表與網頁讓成果看得見。條件裡最容易漏的是「等號」——剛好 40% 算澆水還是不澆？這一句沒寫，等一下驗收帳就會出錯。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【15:00–17:00】P 驗證是 CRISP 跟一般提示框架最大的不同：要求 AI 自己模擬、自己找錯、迭代修正；需要時用影音到現場驗證可行性。測試資料一定要包含卡線值（40%、70%）和怪資料（-5%、abc）。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【17:00–18:00】把五個面向串成一段。工坊右邊就是這樣即時組起來的，每一行前面標著字母，學生一眼看出缺哪一個。重點：不用背句型，填空就好。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【18:00–23:00】這是今天上課前老師實測到的真實回答：代管的 Gemini 只收文字，卻說「我已經讀取了你上傳的一週濕度紀錄.xlsx」。請學生想：如果你沒發現，報告裡會寫進什麼？解藥寫在 S 條件與 P 驗證裡；交出去前，再用查核三問過一遍。工坊已加入提醒，讓代管 AI 不再假裝讀過附檔。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【23:00–27:00】驗收帳就是 P 的課堂練習。工坊會鎖住：8 題預測沒寫完，不能問 AI——這就是先思考、後驗證。AI 回來後會自動帶入判定，但只填空白格，學生要逐題核對。最常不一致的是卡線值 1000、1500 和怪資料 12OO（字母 O）。找到原因後，把等號寫進條件再跑一輪。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【27:00–29:00】工坊網址與班級碼。四個分頁照課堂順序。頁首填學號、姓名、班級、AI 班級碼（MIS2026），就能在頁內直接問老師代管的 Gemini；也可以按「複製並開啟」到 Claude、ChatGPT、Gemini 貼上。資料存在自己的瀏覽器，按「☁ 交件上傳」才會送到老師的試算表。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【29:00–30:00】沒有電腦、只有手機的同學用表單版：同樣五個面向，表單會依你選的提問形式和輸出格式跳頁。送出後系統組好提示；選「要」會請 Gemini 先答一次；有填 Email 就寄給你。網頁版可以即時預覽、改了馬上再問，課堂優先用網頁版。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【30:00–45:00】實習。計時四段：3 分鐘開工坊、5 分鐘填 CRISP、5 分鐘問 AI 並驗證、2 分鐘交件。老師巡堂看三件事：五個圓點是否全亮、任務是不是交代句、P 的測試資料有沒有卡線值。最後 1 分鐘抽 2 位分享：你抓到 AI 什麼錯？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【44:00–45:00】說明交件：今天下課前至少交一次（五面向齊全＋一次 AI 回答＋驗證結果）。完整版五項評分在工坊分頁 4 有自動檢查，3 天內補完、重新上傳即可。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【收尾】全班一起念：先思考，後驗證。提醒交件與 AI 使用聲明三行。下週把今天的提示卡帶進 AI 賦能專題：心智圖 → IPO → 程式 → 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4612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生成式 AI 提示工程｜CRISP 五面向｜第 10 週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生成式 AI 提示工程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461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CRISP 五面向：讓 AI 一次做對，由你來驗證</a:t>
            </a:r>
            <a:endParaRPr lang="en-US" sz="2400" dirty="0"/>
          </a:p>
        </p:txBody>
      </p:sp>
      <p:sp>
        <p:nvSpPr>
          <p:cNvPr id="4" name="dotC_1"/>
          <p:cNvSpPr/>
          <p:nvPr/>
        </p:nvSpPr>
        <p:spPr>
          <a:xfrm>
            <a:off x="731520" y="6858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dotTxtC_2"/>
          <p:cNvSpPr txBox="1"/>
          <p:nvPr/>
        </p:nvSpPr>
        <p:spPr>
          <a:xfrm>
            <a:off x="73152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600" dirty="0"/>
          </a:p>
        </p:txBody>
      </p:sp>
      <p:sp>
        <p:nvSpPr>
          <p:cNvPr id="6" name="dotR_3"/>
          <p:cNvSpPr/>
          <p:nvPr/>
        </p:nvSpPr>
        <p:spPr>
          <a:xfrm>
            <a:off x="1691640" y="68580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dotTxtR_4"/>
          <p:cNvSpPr txBox="1"/>
          <p:nvPr/>
        </p:nvSpPr>
        <p:spPr>
          <a:xfrm>
            <a:off x="169164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600" dirty="0"/>
          </a:p>
        </p:txBody>
      </p:sp>
      <p:sp>
        <p:nvSpPr>
          <p:cNvPr id="8" name="dotI_5"/>
          <p:cNvSpPr/>
          <p:nvPr/>
        </p:nvSpPr>
        <p:spPr>
          <a:xfrm>
            <a:off x="2651760" y="6858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dotTxtI_6"/>
          <p:cNvSpPr txBox="1"/>
          <p:nvPr/>
        </p:nvSpPr>
        <p:spPr>
          <a:xfrm>
            <a:off x="265176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600" dirty="0"/>
          </a:p>
        </p:txBody>
      </p:sp>
      <p:sp>
        <p:nvSpPr>
          <p:cNvPr id="10" name="dotS_7"/>
          <p:cNvSpPr/>
          <p:nvPr/>
        </p:nvSpPr>
        <p:spPr>
          <a:xfrm>
            <a:off x="3611880" y="68580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dotTxtS_8"/>
          <p:cNvSpPr txBox="1"/>
          <p:nvPr/>
        </p:nvSpPr>
        <p:spPr>
          <a:xfrm>
            <a:off x="361188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600" dirty="0"/>
          </a:p>
        </p:txBody>
      </p:sp>
      <p:sp>
        <p:nvSpPr>
          <p:cNvPr id="12" name="dotP_9"/>
          <p:cNvSpPr/>
          <p:nvPr/>
        </p:nvSpPr>
        <p:spPr>
          <a:xfrm>
            <a:off x="4572000" y="68580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dotTxtP_10"/>
          <p:cNvSpPr txBox="1"/>
          <p:nvPr/>
        </p:nvSpPr>
        <p:spPr>
          <a:xfrm>
            <a:off x="457200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2600" dirty="0"/>
          </a:p>
        </p:txBody>
      </p:sp>
      <p:sp>
        <p:nvSpPr>
          <p:cNvPr id="14" name="t_11"/>
          <p:cNvSpPr txBox="1"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第 10 週｜30 分鐘講解＋15 分鐘實習</a:t>
            </a:r>
            <a:endParaRPr lang="en-US" sz="2000" dirty="0"/>
          </a:p>
        </p:txBody>
      </p:sp>
      <p:sp>
        <p:nvSpPr>
          <p:cNvPr id="15" name="t_12"/>
          <p:cNvSpPr txBox="1"/>
          <p:nvPr/>
        </p:nvSpPr>
        <p:spPr>
          <a:xfrm>
            <a:off x="731520" y="5257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國立屏東科技大學｜郭博仁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今天 45 分鐘：先學會交代，再學會驗收</a:t>
            </a:r>
            <a:endParaRPr lang="en-US" sz="3600" dirty="0"/>
          </a:p>
        </p:txBody>
      </p:sp>
      <p:sp>
        <p:nvSpPr>
          <p:cNvPr id="3" name="seg_13"/>
          <p:cNvSpPr/>
          <p:nvPr/>
        </p:nvSpPr>
        <p:spPr>
          <a:xfrm>
            <a:off x="548640" y="1325880"/>
            <a:ext cx="1192784" cy="548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_14"/>
          <p:cNvSpPr txBox="1"/>
          <p:nvPr/>
        </p:nvSpPr>
        <p:spPr>
          <a:xfrm>
            <a:off x="548640" y="1325880"/>
            <a:ext cx="119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00–05</a:t>
            </a:r>
            <a:endParaRPr lang="en-US" sz="1500" dirty="0"/>
          </a:p>
        </p:txBody>
      </p:sp>
      <p:sp>
        <p:nvSpPr>
          <p:cNvPr id="5" name="t_15"/>
          <p:cNvSpPr txBox="1"/>
          <p:nvPr/>
        </p:nvSpPr>
        <p:spPr>
          <a:xfrm>
            <a:off x="566928" y="1938528"/>
            <a:ext cx="1156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同一題兩種問法</a:t>
            </a:r>
            <a:endParaRPr lang="en-US" sz="1400" dirty="0"/>
          </a:p>
        </p:txBody>
      </p:sp>
      <p:sp>
        <p:nvSpPr>
          <p:cNvPr id="6" name="seg_16"/>
          <p:cNvSpPr/>
          <p:nvPr/>
        </p:nvSpPr>
        <p:spPr>
          <a:xfrm>
            <a:off x="1778000" y="1325880"/>
            <a:ext cx="2913888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_17"/>
          <p:cNvSpPr txBox="1"/>
          <p:nvPr/>
        </p:nvSpPr>
        <p:spPr>
          <a:xfrm>
            <a:off x="1778000" y="1325880"/>
            <a:ext cx="2913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05–17</a:t>
            </a:r>
            <a:endParaRPr lang="en-US" sz="1500" dirty="0"/>
          </a:p>
        </p:txBody>
      </p:sp>
      <p:sp>
        <p:nvSpPr>
          <p:cNvPr id="8" name="t_18"/>
          <p:cNvSpPr txBox="1"/>
          <p:nvPr/>
        </p:nvSpPr>
        <p:spPr>
          <a:xfrm>
            <a:off x="1796288" y="1938528"/>
            <a:ext cx="2877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CRISP 五面向</a:t>
            </a:r>
            <a:endParaRPr lang="en-US" sz="1400" dirty="0"/>
          </a:p>
        </p:txBody>
      </p:sp>
      <p:sp>
        <p:nvSpPr>
          <p:cNvPr id="9" name="seg_19"/>
          <p:cNvSpPr/>
          <p:nvPr/>
        </p:nvSpPr>
        <p:spPr>
          <a:xfrm>
            <a:off x="4728464" y="1325880"/>
            <a:ext cx="1438656" cy="5486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_20"/>
          <p:cNvSpPr txBox="1"/>
          <p:nvPr/>
        </p:nvSpPr>
        <p:spPr>
          <a:xfrm>
            <a:off x="4728464" y="1325880"/>
            <a:ext cx="1438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17–23</a:t>
            </a:r>
            <a:endParaRPr lang="en-US" sz="1500" dirty="0"/>
          </a:p>
        </p:txBody>
      </p:sp>
      <p:sp>
        <p:nvSpPr>
          <p:cNvPr id="11" name="t_21"/>
          <p:cNvSpPr txBox="1"/>
          <p:nvPr/>
        </p:nvSpPr>
        <p:spPr>
          <a:xfrm>
            <a:off x="4746752" y="1938528"/>
            <a:ext cx="140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AI 會說謊</a:t>
            </a:r>
            <a:endParaRPr lang="en-US" sz="1400" dirty="0"/>
          </a:p>
        </p:txBody>
      </p:sp>
      <p:sp>
        <p:nvSpPr>
          <p:cNvPr id="12" name="seg_22"/>
          <p:cNvSpPr/>
          <p:nvPr/>
        </p:nvSpPr>
        <p:spPr>
          <a:xfrm>
            <a:off x="6203696" y="1325880"/>
            <a:ext cx="946912" cy="5486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_23"/>
          <p:cNvSpPr txBox="1"/>
          <p:nvPr/>
        </p:nvSpPr>
        <p:spPr>
          <a:xfrm>
            <a:off x="6203696" y="1325880"/>
            <a:ext cx="94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23–27</a:t>
            </a:r>
            <a:endParaRPr lang="en-US" sz="1500" dirty="0"/>
          </a:p>
        </p:txBody>
      </p:sp>
      <p:sp>
        <p:nvSpPr>
          <p:cNvPr id="14" name="t_24"/>
          <p:cNvSpPr txBox="1"/>
          <p:nvPr/>
        </p:nvSpPr>
        <p:spPr>
          <a:xfrm>
            <a:off x="6221984" y="1938528"/>
            <a:ext cx="910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先思考，後驗證</a:t>
            </a:r>
            <a:endParaRPr lang="en-US" sz="1400" dirty="0"/>
          </a:p>
        </p:txBody>
      </p:sp>
      <p:sp>
        <p:nvSpPr>
          <p:cNvPr id="15" name="seg_25"/>
          <p:cNvSpPr/>
          <p:nvPr/>
        </p:nvSpPr>
        <p:spPr>
          <a:xfrm>
            <a:off x="7187184" y="1325880"/>
            <a:ext cx="7010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_26"/>
          <p:cNvSpPr txBox="1"/>
          <p:nvPr/>
        </p:nvSpPr>
        <p:spPr>
          <a:xfrm>
            <a:off x="7187184" y="1325880"/>
            <a:ext cx="70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27–30</a:t>
            </a:r>
            <a:endParaRPr lang="en-US" sz="1500" dirty="0"/>
          </a:p>
        </p:txBody>
      </p:sp>
      <p:sp>
        <p:nvSpPr>
          <p:cNvPr id="17" name="t_27"/>
          <p:cNvSpPr txBox="1"/>
          <p:nvPr/>
        </p:nvSpPr>
        <p:spPr>
          <a:xfrm>
            <a:off x="7205472" y="1938528"/>
            <a:ext cx="664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兩個工具</a:t>
            </a:r>
            <a:endParaRPr lang="en-US" sz="1400" dirty="0"/>
          </a:p>
        </p:txBody>
      </p:sp>
      <p:sp>
        <p:nvSpPr>
          <p:cNvPr id="18" name="seg_28"/>
          <p:cNvSpPr/>
          <p:nvPr/>
        </p:nvSpPr>
        <p:spPr>
          <a:xfrm>
            <a:off x="7924800" y="1325880"/>
            <a:ext cx="365150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_29"/>
          <p:cNvSpPr txBox="1"/>
          <p:nvPr/>
        </p:nvSpPr>
        <p:spPr>
          <a:xfrm>
            <a:off x="7924800" y="1325880"/>
            <a:ext cx="3651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30–45</a:t>
            </a:r>
            <a:endParaRPr lang="en-US" sz="1500" dirty="0"/>
          </a:p>
        </p:txBody>
      </p:sp>
      <p:sp>
        <p:nvSpPr>
          <p:cNvPr id="20" name="t_30"/>
          <p:cNvSpPr txBox="1"/>
          <p:nvPr/>
        </p:nvSpPr>
        <p:spPr>
          <a:xfrm>
            <a:off x="7943088" y="1938528"/>
            <a:ext cx="3614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實習：做一張提示卡</a:t>
            </a:r>
            <a:endParaRPr lang="en-US" sz="1400" dirty="0"/>
          </a:p>
        </p:txBody>
      </p:sp>
      <p:sp>
        <p:nvSpPr>
          <p:cNvPr id="21" name="t_31"/>
          <p:cNvSpPr txBox="1"/>
          <p:nvPr/>
        </p:nvSpPr>
        <p:spPr>
          <a:xfrm>
            <a:off x="548640" y="2578608"/>
            <a:ext cx="7379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講解 30 分鐘</a:t>
            </a:r>
            <a:endParaRPr lang="en-US" sz="1300" dirty="0"/>
          </a:p>
        </p:txBody>
      </p:sp>
      <p:sp>
        <p:nvSpPr>
          <p:cNvPr id="22" name="t_32"/>
          <p:cNvSpPr txBox="1"/>
          <p:nvPr/>
        </p:nvSpPr>
        <p:spPr>
          <a:xfrm>
            <a:off x="7927848" y="2578608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實習 15 分鐘</a:t>
            </a:r>
            <a:endParaRPr lang="en-US" sz="1300" dirty="0"/>
          </a:p>
        </p:txBody>
      </p:sp>
      <p:sp>
        <p:nvSpPr>
          <p:cNvPr id="23" name="dotC_33"/>
          <p:cNvSpPr/>
          <p:nvPr/>
        </p:nvSpPr>
        <p:spPr>
          <a:xfrm>
            <a:off x="548640" y="3200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dotTxtC_34"/>
          <p:cNvSpPr txBox="1"/>
          <p:nvPr/>
        </p:nvSpPr>
        <p:spPr>
          <a:xfrm>
            <a:off x="5486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_35"/>
          <p:cNvSpPr txBox="1"/>
          <p:nvPr/>
        </p:nvSpPr>
        <p:spPr>
          <a:xfrm>
            <a:off x="141732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寫得出</a:t>
            </a:r>
            <a:endParaRPr lang="en-US" sz="2600" dirty="0"/>
          </a:p>
        </p:txBody>
      </p:sp>
      <p:sp>
        <p:nvSpPr>
          <p:cNvPr id="26" name="t_36"/>
          <p:cNvSpPr txBox="1"/>
          <p:nvPr/>
        </p:nvSpPr>
        <p:spPr>
          <a:xfrm>
            <a:off x="3200400" y="31546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用 C R I S P 五個面向，把一句模糊的話改寫成 AI 一次就做對的提示</a:t>
            </a:r>
            <a:endParaRPr lang="en-US" sz="2000" dirty="0"/>
          </a:p>
        </p:txBody>
      </p:sp>
      <p:sp>
        <p:nvSpPr>
          <p:cNvPr id="27" name="dotP_37"/>
          <p:cNvSpPr/>
          <p:nvPr/>
        </p:nvSpPr>
        <p:spPr>
          <a:xfrm>
            <a:off x="548640" y="42062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dotTxtP_38"/>
          <p:cNvSpPr txBox="1"/>
          <p:nvPr/>
        </p:nvSpPr>
        <p:spPr>
          <a:xfrm>
            <a:off x="54864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2000" dirty="0"/>
          </a:p>
        </p:txBody>
      </p:sp>
      <p:sp>
        <p:nvSpPr>
          <p:cNvPr id="29" name="t_39"/>
          <p:cNvSpPr txBox="1"/>
          <p:nvPr/>
        </p:nvSpPr>
        <p:spPr>
          <a:xfrm>
            <a:off x="1417320" y="4160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抓得到</a:t>
            </a:r>
            <a:endParaRPr lang="en-US" sz="2600" dirty="0"/>
          </a:p>
        </p:txBody>
      </p:sp>
      <p:sp>
        <p:nvSpPr>
          <p:cNvPr id="30" name="t_40"/>
          <p:cNvSpPr txBox="1"/>
          <p:nvPr/>
        </p:nvSpPr>
        <p:spPr>
          <a:xfrm>
            <a:off x="3200400" y="41605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先寫預測、再看 AI 答案，親手抓出 AI 的一個錯（或確認它全對）</a:t>
            </a:r>
            <a:endParaRPr lang="en-US" sz="2000" dirty="0"/>
          </a:p>
        </p:txBody>
      </p:sp>
      <p:sp>
        <p:nvSpPr>
          <p:cNvPr id="31" name="dotI_41"/>
          <p:cNvSpPr/>
          <p:nvPr/>
        </p:nvSpPr>
        <p:spPr>
          <a:xfrm>
            <a:off x="548640" y="5212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dotTxtI_42"/>
          <p:cNvSpPr txBox="1"/>
          <p:nvPr/>
        </p:nvSpPr>
        <p:spPr>
          <a:xfrm>
            <a:off x="54864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000" dirty="0"/>
          </a:p>
        </p:txBody>
      </p:sp>
      <p:sp>
        <p:nvSpPr>
          <p:cNvPr id="33" name="t_43"/>
          <p:cNvSpPr txBox="1"/>
          <p:nvPr/>
        </p:nvSpPr>
        <p:spPr>
          <a:xfrm>
            <a:off x="1417320" y="5166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交得出</a:t>
            </a:r>
            <a:endParaRPr lang="en-US" sz="2600" dirty="0"/>
          </a:p>
        </p:txBody>
      </p:sp>
      <p:sp>
        <p:nvSpPr>
          <p:cNvPr id="34" name="t_44"/>
          <p:cNvSpPr txBox="1"/>
          <p:nvPr/>
        </p:nvSpPr>
        <p:spPr>
          <a:xfrm>
            <a:off x="3200400" y="51663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用 CRISP 提示工坊組好提示、直接問 AI，按「☁ 交件上傳」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同一題，兩種問法</a:t>
            </a:r>
            <a:endParaRPr lang="en-US" sz="3600" dirty="0"/>
          </a:p>
        </p:txBody>
      </p:sp>
      <p:sp>
        <p:nvSpPr>
          <p:cNvPr id="3" name="card_45"/>
          <p:cNvSpPr/>
          <p:nvPr/>
        </p:nvSpPr>
        <p:spPr>
          <a:xfrm>
            <a:off x="548640" y="1325880"/>
            <a:ext cx="521208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_46"/>
          <p:cNvSpPr txBox="1"/>
          <p:nvPr/>
        </p:nvSpPr>
        <p:spPr>
          <a:xfrm>
            <a:off x="82296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模糊版</a:t>
            </a:r>
            <a:endParaRPr lang="en-US" sz="2200" dirty="0"/>
          </a:p>
        </p:txBody>
      </p:sp>
      <p:sp>
        <p:nvSpPr>
          <p:cNvPr id="5" name="t_47"/>
          <p:cNvSpPr txBox="1"/>
          <p:nvPr/>
        </p:nvSpPr>
        <p:spPr>
          <a:xfrm>
            <a:off x="822960" y="21031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「幫我做一個自動澆水的程式」</a:t>
            </a:r>
            <a:endParaRPr lang="en-US" sz="2800" dirty="0"/>
          </a:p>
        </p:txBody>
      </p:sp>
      <p:sp>
        <p:nvSpPr>
          <p:cNvPr id="6" name="t_48"/>
          <p:cNvSpPr txBox="1"/>
          <p:nvPr/>
        </p:nvSpPr>
        <p:spPr>
          <a:xfrm>
            <a:off x="8229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AI 只能猜：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用什麼感測器？門檻多少？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給誰看？要程式還是說明？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答案一大段，很難驗收</a:t>
            </a:r>
            <a:endParaRPr lang="en-US" sz="2000" dirty="0"/>
          </a:p>
        </p:txBody>
      </p:sp>
      <p:sp>
        <p:nvSpPr>
          <p:cNvPr id="7" name="card_49"/>
          <p:cNvSpPr/>
          <p:nvPr/>
        </p:nvSpPr>
        <p:spPr>
          <a:xfrm>
            <a:off x="6309360" y="132588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72033">
                <a:alpha val="12000"/>
              </a:srgbClr>
            </a:outerShdw>
          </a:effectLst>
        </p:spPr>
      </p:sp>
      <p:sp>
        <p:nvSpPr>
          <p:cNvPr id="8" name="t_50"/>
          <p:cNvSpPr txBox="1"/>
          <p:nvPr/>
        </p:nvSpPr>
        <p:spPr>
          <a:xfrm>
            <a:off x="658368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CRISP 版</a:t>
            </a:r>
            <a:endParaRPr lang="en-US" sz="2200" dirty="0"/>
          </a:p>
        </p:txBody>
      </p:sp>
      <p:sp>
        <p:nvSpPr>
          <p:cNvPr id="9" name="dotC_51"/>
          <p:cNvSpPr/>
          <p:nvPr/>
        </p:nvSpPr>
        <p:spPr>
          <a:xfrm>
            <a:off x="6583680" y="214884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dotTxtC_52"/>
          <p:cNvSpPr txBox="1"/>
          <p:nvPr/>
        </p:nvSpPr>
        <p:spPr>
          <a:xfrm>
            <a:off x="658368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600" dirty="0"/>
          </a:p>
        </p:txBody>
      </p:sp>
      <p:sp>
        <p:nvSpPr>
          <p:cNvPr id="11" name="t_53"/>
          <p:cNvSpPr txBox="1"/>
          <p:nvPr/>
        </p:nvSpPr>
        <p:spPr>
          <a:xfrm>
            <a:off x="7223760" y="21031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溫室濕度 0–100%，低於 40% 要澆水</a:t>
            </a:r>
            <a:endParaRPr lang="en-US" sz="1800" dirty="0"/>
          </a:p>
        </p:txBody>
      </p:sp>
      <p:sp>
        <p:nvSpPr>
          <p:cNvPr id="12" name="dotR_54"/>
          <p:cNvSpPr/>
          <p:nvPr/>
        </p:nvSpPr>
        <p:spPr>
          <a:xfrm>
            <a:off x="6583680" y="2862072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dotTxtR_55"/>
          <p:cNvSpPr txBox="1"/>
          <p:nvPr/>
        </p:nvSpPr>
        <p:spPr>
          <a:xfrm>
            <a:off x="6583680" y="2862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600" dirty="0"/>
          </a:p>
        </p:txBody>
      </p:sp>
      <p:sp>
        <p:nvSpPr>
          <p:cNvPr id="14" name="t_56"/>
          <p:cNvSpPr txBox="1"/>
          <p:nvPr/>
        </p:nvSpPr>
        <p:spPr>
          <a:xfrm>
            <a:off x="7223760" y="281635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扮演農業技師，說給大一新生聽</a:t>
            </a:r>
            <a:endParaRPr lang="en-US" sz="1800" dirty="0"/>
          </a:p>
        </p:txBody>
      </p:sp>
      <p:sp>
        <p:nvSpPr>
          <p:cNvPr id="15" name="dotI_57"/>
          <p:cNvSpPr/>
          <p:nvPr/>
        </p:nvSpPr>
        <p:spPr>
          <a:xfrm>
            <a:off x="6583680" y="3575304"/>
            <a:ext cx="475488" cy="475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dotTxtI_58"/>
          <p:cNvSpPr txBox="1"/>
          <p:nvPr/>
        </p:nvSpPr>
        <p:spPr>
          <a:xfrm>
            <a:off x="6583680" y="3575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600" dirty="0"/>
          </a:p>
        </p:txBody>
      </p:sp>
      <p:sp>
        <p:nvSpPr>
          <p:cNvPr id="17" name="t_59"/>
          <p:cNvSpPr txBox="1"/>
          <p:nvPr/>
        </p:nvSpPr>
        <p:spPr>
          <a:xfrm>
            <a:off x="7223760" y="352958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用 IPO：輸入濕度→判斷→澆水／停止</a:t>
            </a:r>
            <a:endParaRPr lang="en-US" sz="1800" dirty="0"/>
          </a:p>
        </p:txBody>
      </p:sp>
      <p:sp>
        <p:nvSpPr>
          <p:cNvPr id="18" name="dotS_60"/>
          <p:cNvSpPr/>
          <p:nvPr/>
        </p:nvSpPr>
        <p:spPr>
          <a:xfrm>
            <a:off x="6583680" y="4288536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dotTxtS_61"/>
          <p:cNvSpPr txBox="1"/>
          <p:nvPr/>
        </p:nvSpPr>
        <p:spPr>
          <a:xfrm>
            <a:off x="6583680" y="4288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20" name="t_62"/>
          <p:cNvSpPr txBox="1"/>
          <p:nvPr/>
        </p:nvSpPr>
        <p:spPr>
          <a:xfrm>
            <a:off x="7223760" y="424281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輸出 Colab 可執行的 Python；剛好 40% 算要澆水</a:t>
            </a:r>
            <a:endParaRPr lang="en-US" sz="1800" dirty="0"/>
          </a:p>
        </p:txBody>
      </p:sp>
      <p:sp>
        <p:nvSpPr>
          <p:cNvPr id="21" name="dotP_63"/>
          <p:cNvSpPr/>
          <p:nvPr/>
        </p:nvSpPr>
        <p:spPr>
          <a:xfrm>
            <a:off x="6583680" y="5001768"/>
            <a:ext cx="475488" cy="4754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dotTxtP_64"/>
          <p:cNvSpPr txBox="1"/>
          <p:nvPr/>
        </p:nvSpPr>
        <p:spPr>
          <a:xfrm>
            <a:off x="6583680" y="5001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600" dirty="0"/>
          </a:p>
        </p:txBody>
      </p:sp>
      <p:sp>
        <p:nvSpPr>
          <p:cNvPr id="23" name="t_65"/>
          <p:cNvSpPr txBox="1"/>
          <p:nvPr/>
        </p:nvSpPr>
        <p:spPr>
          <a:xfrm>
            <a:off x="7223760" y="495604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用 25%、40%、70%、-5% 模擬驗證</a:t>
            </a:r>
            <a:endParaRPr lang="en-US" sz="1800" dirty="0"/>
          </a:p>
        </p:txBody>
      </p:sp>
      <p:sp>
        <p:nvSpPr>
          <p:cNvPr id="24" name="t_66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先猜：兩份答案會差在哪？寫在紙上，再看 AI 怎麼回。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CRISP 五面向：交代 AI 做事的清單</a:t>
            </a:r>
            <a:endParaRPr lang="en-US" sz="3600" dirty="0"/>
          </a:p>
        </p:txBody>
      </p:sp>
      <p:sp>
        <p:nvSpPr>
          <p:cNvPr id="3" name="card_67"/>
          <p:cNvSpPr/>
          <p:nvPr/>
        </p:nvSpPr>
        <p:spPr>
          <a:xfrm>
            <a:off x="548640" y="1325880"/>
            <a:ext cx="2103120" cy="4846320"/>
          </a:xfrm>
          <a:prstGeom prst="roundRect">
            <a:avLst>
              <a:gd name="adj" fmla="val 5217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dotC_68"/>
          <p:cNvSpPr/>
          <p:nvPr/>
        </p:nvSpPr>
        <p:spPr>
          <a:xfrm>
            <a:off x="1165860" y="15544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dotTxtC_69"/>
          <p:cNvSpPr txBox="1"/>
          <p:nvPr/>
        </p:nvSpPr>
        <p:spPr>
          <a:xfrm>
            <a:off x="116586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3200" dirty="0"/>
          </a:p>
        </p:txBody>
      </p:sp>
      <p:sp>
        <p:nvSpPr>
          <p:cNvPr id="6" name="t_70"/>
          <p:cNvSpPr txBox="1"/>
          <p:nvPr/>
        </p:nvSpPr>
        <p:spPr>
          <a:xfrm>
            <a:off x="64008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400" dirty="0"/>
          </a:p>
        </p:txBody>
      </p:sp>
      <p:sp>
        <p:nvSpPr>
          <p:cNvPr id="7" name="t_71"/>
          <p:cNvSpPr txBox="1"/>
          <p:nvPr/>
        </p:nvSpPr>
        <p:spPr>
          <a:xfrm>
            <a:off x="64008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背景</a:t>
            </a:r>
            <a:endParaRPr lang="en-US" sz="3000" dirty="0"/>
          </a:p>
        </p:txBody>
      </p:sp>
      <p:sp>
        <p:nvSpPr>
          <p:cNvPr id="8" name="t_72"/>
          <p:cNvSpPr txBox="1"/>
          <p:nvPr/>
        </p:nvSpPr>
        <p:spPr>
          <a:xfrm>
            <a:off x="713232" y="35661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提供背景與細節資訊，如上傳附檔</a:t>
            </a:r>
            <a:endParaRPr lang="en-US" sz="1600" dirty="0"/>
          </a:p>
        </p:txBody>
      </p:sp>
      <p:sp>
        <p:nvSpPr>
          <p:cNvPr id="9" name="t_73"/>
          <p:cNvSpPr txBox="1"/>
          <p:nvPr/>
        </p:nvSpPr>
        <p:spPr>
          <a:xfrm>
            <a:off x="713232" y="516636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沒寫會怎樣</a:t>
            </a:r>
            <a:endParaRPr lang="en-US" sz="18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AI 自己編數字</a:t>
            </a:r>
            <a:endParaRPr lang="en-US" sz="1800" dirty="0"/>
          </a:p>
        </p:txBody>
      </p:sp>
      <p:sp>
        <p:nvSpPr>
          <p:cNvPr id="10" name="card_74"/>
          <p:cNvSpPr/>
          <p:nvPr/>
        </p:nvSpPr>
        <p:spPr>
          <a:xfrm>
            <a:off x="2788920" y="1325880"/>
            <a:ext cx="2103120" cy="4846320"/>
          </a:xfrm>
          <a:prstGeom prst="roundRect">
            <a:avLst>
              <a:gd name="adj" fmla="val 5217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dotR_75"/>
          <p:cNvSpPr/>
          <p:nvPr/>
        </p:nvSpPr>
        <p:spPr>
          <a:xfrm>
            <a:off x="3406140" y="155448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dotTxtR_76"/>
          <p:cNvSpPr txBox="1"/>
          <p:nvPr/>
        </p:nvSpPr>
        <p:spPr>
          <a:xfrm>
            <a:off x="340614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3200" dirty="0"/>
          </a:p>
        </p:txBody>
      </p:sp>
      <p:sp>
        <p:nvSpPr>
          <p:cNvPr id="13" name="t_77"/>
          <p:cNvSpPr txBox="1"/>
          <p:nvPr/>
        </p:nvSpPr>
        <p:spPr>
          <a:xfrm>
            <a:off x="288036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400" dirty="0"/>
          </a:p>
        </p:txBody>
      </p:sp>
      <p:sp>
        <p:nvSpPr>
          <p:cNvPr id="14" name="t_78"/>
          <p:cNvSpPr txBox="1"/>
          <p:nvPr/>
        </p:nvSpPr>
        <p:spPr>
          <a:xfrm>
            <a:off x="288036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角色</a:t>
            </a:r>
            <a:endParaRPr lang="en-US" sz="3000" dirty="0"/>
          </a:p>
        </p:txBody>
      </p:sp>
      <p:sp>
        <p:nvSpPr>
          <p:cNvPr id="15" name="t_79"/>
          <p:cNvSpPr txBox="1"/>
          <p:nvPr/>
        </p:nvSpPr>
        <p:spPr>
          <a:xfrm>
            <a:off x="2953512" y="35661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角色扮演定位：AI 是誰、說給誰聽</a:t>
            </a:r>
            <a:endParaRPr lang="en-US" sz="1600" dirty="0"/>
          </a:p>
        </p:txBody>
      </p:sp>
      <p:sp>
        <p:nvSpPr>
          <p:cNvPr id="16" name="t_80"/>
          <p:cNvSpPr txBox="1"/>
          <p:nvPr/>
        </p:nvSpPr>
        <p:spPr>
          <a:xfrm>
            <a:off x="2953512" y="516636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沒寫會怎樣</a:t>
            </a:r>
            <a:endParaRPr lang="en-US" sz="18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答案太泛、對象不對</a:t>
            </a:r>
            <a:endParaRPr lang="en-US" sz="1800" dirty="0"/>
          </a:p>
        </p:txBody>
      </p:sp>
      <p:sp>
        <p:nvSpPr>
          <p:cNvPr id="17" name="card_81"/>
          <p:cNvSpPr/>
          <p:nvPr/>
        </p:nvSpPr>
        <p:spPr>
          <a:xfrm>
            <a:off x="5029200" y="1325880"/>
            <a:ext cx="2103120" cy="4846320"/>
          </a:xfrm>
          <a:prstGeom prst="roundRect">
            <a:avLst>
              <a:gd name="adj" fmla="val 521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dotI_82"/>
          <p:cNvSpPr/>
          <p:nvPr/>
        </p:nvSpPr>
        <p:spPr>
          <a:xfrm>
            <a:off x="5646420" y="15544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dotTxtI_83"/>
          <p:cNvSpPr txBox="1"/>
          <p:nvPr/>
        </p:nvSpPr>
        <p:spPr>
          <a:xfrm>
            <a:off x="564642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3200" dirty="0"/>
          </a:p>
        </p:txBody>
      </p:sp>
      <p:sp>
        <p:nvSpPr>
          <p:cNvPr id="20" name="t_84"/>
          <p:cNvSpPr txBox="1"/>
          <p:nvPr/>
        </p:nvSpPr>
        <p:spPr>
          <a:xfrm>
            <a:off x="512064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</a:t>
            </a:r>
            <a:endParaRPr lang="en-US" sz="1400" dirty="0"/>
          </a:p>
        </p:txBody>
      </p:sp>
      <p:sp>
        <p:nvSpPr>
          <p:cNvPr id="21" name="t_85"/>
          <p:cNvSpPr txBox="1"/>
          <p:nvPr/>
        </p:nvSpPr>
        <p:spPr>
          <a:xfrm>
            <a:off x="512064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指令</a:t>
            </a:r>
            <a:endParaRPr lang="en-US" sz="3000" dirty="0"/>
          </a:p>
        </p:txBody>
      </p:sp>
      <p:sp>
        <p:nvSpPr>
          <p:cNvPr id="22" name="t_86"/>
          <p:cNvSpPr txBox="1"/>
          <p:nvPr/>
        </p:nvSpPr>
        <p:spPr>
          <a:xfrm>
            <a:off x="5193792" y="35661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提問形式與執行步驟，如 IPO 架構</a:t>
            </a:r>
            <a:endParaRPr lang="en-US" sz="1600" dirty="0"/>
          </a:p>
        </p:txBody>
      </p:sp>
      <p:sp>
        <p:nvSpPr>
          <p:cNvPr id="23" name="t_87"/>
          <p:cNvSpPr txBox="1"/>
          <p:nvPr/>
        </p:nvSpPr>
        <p:spPr>
          <a:xfrm>
            <a:off x="5193792" y="516636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沒寫會怎樣</a:t>
            </a:r>
            <a:endParaRPr lang="en-US" sz="18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只會「介紹一下」</a:t>
            </a:r>
            <a:endParaRPr lang="en-US" sz="1800" dirty="0"/>
          </a:p>
        </p:txBody>
      </p:sp>
      <p:sp>
        <p:nvSpPr>
          <p:cNvPr id="24" name="card_88"/>
          <p:cNvSpPr/>
          <p:nvPr/>
        </p:nvSpPr>
        <p:spPr>
          <a:xfrm>
            <a:off x="7269480" y="1325880"/>
            <a:ext cx="2103120" cy="4846320"/>
          </a:xfrm>
          <a:prstGeom prst="roundRect">
            <a:avLst>
              <a:gd name="adj" fmla="val 5217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dotS_89"/>
          <p:cNvSpPr/>
          <p:nvPr/>
        </p:nvSpPr>
        <p:spPr>
          <a:xfrm>
            <a:off x="7886700" y="155448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dotTxtS_90"/>
          <p:cNvSpPr txBox="1"/>
          <p:nvPr/>
        </p:nvSpPr>
        <p:spPr>
          <a:xfrm>
            <a:off x="788670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3200" dirty="0"/>
          </a:p>
        </p:txBody>
      </p:sp>
      <p:sp>
        <p:nvSpPr>
          <p:cNvPr id="27" name="t_91"/>
          <p:cNvSpPr txBox="1"/>
          <p:nvPr/>
        </p:nvSpPr>
        <p:spPr>
          <a:xfrm>
            <a:off x="736092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Specifics</a:t>
            </a:r>
            <a:endParaRPr lang="en-US" sz="1400" dirty="0"/>
          </a:p>
        </p:txBody>
      </p:sp>
      <p:sp>
        <p:nvSpPr>
          <p:cNvPr id="28" name="t_92"/>
          <p:cNvSpPr txBox="1"/>
          <p:nvPr/>
        </p:nvSpPr>
        <p:spPr>
          <a:xfrm>
            <a:off x="736092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規格</a:t>
            </a:r>
            <a:endParaRPr lang="en-US" sz="3000" dirty="0"/>
          </a:p>
        </p:txBody>
      </p:sp>
      <p:sp>
        <p:nvSpPr>
          <p:cNvPr id="29" name="t_93"/>
          <p:cNvSpPr txBox="1"/>
          <p:nvPr/>
        </p:nvSpPr>
        <p:spPr>
          <a:xfrm>
            <a:off x="7434072" y="35661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指定輸出格式與條件，如視覺化圖表與網頁</a:t>
            </a:r>
            <a:endParaRPr lang="en-US" sz="1600" dirty="0"/>
          </a:p>
        </p:txBody>
      </p:sp>
      <p:sp>
        <p:nvSpPr>
          <p:cNvPr id="30" name="t_94"/>
          <p:cNvSpPr txBox="1"/>
          <p:nvPr/>
        </p:nvSpPr>
        <p:spPr>
          <a:xfrm>
            <a:off x="7434072" y="516636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沒寫會怎樣</a:t>
            </a:r>
            <a:endParaRPr lang="en-US" sz="18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一大段文字，難驗收</a:t>
            </a:r>
            <a:endParaRPr lang="en-US" sz="1800" dirty="0"/>
          </a:p>
        </p:txBody>
      </p:sp>
      <p:sp>
        <p:nvSpPr>
          <p:cNvPr id="31" name="card_95"/>
          <p:cNvSpPr/>
          <p:nvPr/>
        </p:nvSpPr>
        <p:spPr>
          <a:xfrm>
            <a:off x="9509760" y="1325880"/>
            <a:ext cx="2103120" cy="4846320"/>
          </a:xfrm>
          <a:prstGeom prst="roundRect">
            <a:avLst>
              <a:gd name="adj" fmla="val 5217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dotP_96"/>
          <p:cNvSpPr/>
          <p:nvPr/>
        </p:nvSpPr>
        <p:spPr>
          <a:xfrm>
            <a:off x="10126980" y="1554480"/>
            <a:ext cx="868680" cy="8686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dotTxtP_97"/>
          <p:cNvSpPr txBox="1"/>
          <p:nvPr/>
        </p:nvSpPr>
        <p:spPr>
          <a:xfrm>
            <a:off x="1012698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3200" dirty="0"/>
          </a:p>
        </p:txBody>
      </p:sp>
      <p:sp>
        <p:nvSpPr>
          <p:cNvPr id="34" name="t_98"/>
          <p:cNvSpPr txBox="1"/>
          <p:nvPr/>
        </p:nvSpPr>
        <p:spPr>
          <a:xfrm>
            <a:off x="960120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400" dirty="0"/>
          </a:p>
        </p:txBody>
      </p:sp>
      <p:sp>
        <p:nvSpPr>
          <p:cNvPr id="35" name="t_99"/>
          <p:cNvSpPr txBox="1"/>
          <p:nvPr/>
        </p:nvSpPr>
        <p:spPr>
          <a:xfrm>
            <a:off x="960120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驗證</a:t>
            </a:r>
            <a:endParaRPr lang="en-US" sz="3000" dirty="0"/>
          </a:p>
        </p:txBody>
      </p:sp>
      <p:sp>
        <p:nvSpPr>
          <p:cNvPr id="36" name="t_100"/>
          <p:cNvSpPr txBox="1"/>
          <p:nvPr/>
        </p:nvSpPr>
        <p:spPr>
          <a:xfrm>
            <a:off x="9674352" y="35661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模擬驗證、迭代修正，如程式模擬、影音驗證情境可行性</a:t>
            </a:r>
            <a:endParaRPr lang="en-US" sz="1600" dirty="0"/>
          </a:p>
        </p:txBody>
      </p:sp>
      <p:sp>
        <p:nvSpPr>
          <p:cNvPr id="37" name="t_101"/>
          <p:cNvSpPr txBox="1"/>
          <p:nvPr/>
        </p:nvSpPr>
        <p:spPr>
          <a:xfrm>
            <a:off x="9674352" y="516636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沒寫會怎樣</a:t>
            </a:r>
            <a:endParaRPr lang="en-US" sz="18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錯了也不知道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 背景　Context</a:t>
            </a:r>
            <a:endParaRPr lang="en-US" sz="3600" dirty="0"/>
          </a:p>
        </p:txBody>
      </p:sp>
      <p:sp>
        <p:nvSpPr>
          <p:cNvPr id="3" name="dotC_102"/>
          <p:cNvSpPr/>
          <p:nvPr/>
        </p:nvSpPr>
        <p:spPr>
          <a:xfrm>
            <a:off x="10561320" y="2743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dotTxtC_103"/>
          <p:cNvSpPr txBox="1"/>
          <p:nvPr/>
        </p:nvSpPr>
        <p:spPr>
          <a:xfrm>
            <a:off x="1056132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3400" dirty="0"/>
          </a:p>
        </p:txBody>
      </p:sp>
      <p:sp>
        <p:nvSpPr>
          <p:cNvPr id="5" name="t_104"/>
          <p:cNvSpPr txBox="1"/>
          <p:nvPr/>
        </p:nvSpPr>
        <p:spPr>
          <a:xfrm>
            <a:off x="548640" y="11887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提供背景與細節資訊，如上傳附檔</a:t>
            </a:r>
            <a:endParaRPr lang="en-US" sz="2200" dirty="0"/>
          </a:p>
        </p:txBody>
      </p:sp>
      <p:sp>
        <p:nvSpPr>
          <p:cNvPr id="6" name="card_105"/>
          <p:cNvSpPr/>
          <p:nvPr/>
        </p:nvSpPr>
        <p:spPr>
          <a:xfrm>
            <a:off x="548640" y="1874520"/>
            <a:ext cx="5029200" cy="3154680"/>
          </a:xfrm>
          <a:prstGeom prst="roundRect">
            <a:avLst>
              <a:gd name="adj" fmla="val 3478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_106"/>
          <p:cNvSpPr txBox="1"/>
          <p:nvPr/>
        </p:nvSpPr>
        <p:spPr>
          <a:xfrm>
            <a:off x="7772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填空句</a:t>
            </a:r>
            <a:endParaRPr lang="en-US" sz="1400" dirty="0"/>
          </a:p>
        </p:txBody>
      </p:sp>
      <p:sp>
        <p:nvSpPr>
          <p:cNvPr id="8" name="t_107"/>
          <p:cNvSpPr txBox="1"/>
          <p:nvPr/>
        </p:nvSpPr>
        <p:spPr>
          <a:xfrm>
            <a:off x="777240" y="242316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我是＿＿，正在做＿＿。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細節：＿＿（數字、時間、對象、門檻）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附檔：＿＿（檔名與內容）</a:t>
            </a:r>
            <a:endParaRPr lang="en-US" sz="2100" dirty="0"/>
          </a:p>
        </p:txBody>
      </p:sp>
      <p:sp>
        <p:nvSpPr>
          <p:cNvPr id="9" name="card_108"/>
          <p:cNvSpPr/>
          <p:nvPr/>
        </p:nvSpPr>
        <p:spPr>
          <a:xfrm>
            <a:off x="5852160" y="1874520"/>
            <a:ext cx="576072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72033">
                <a:alpha val="12000"/>
              </a:srgbClr>
            </a:outerShdw>
          </a:effectLst>
        </p:spPr>
      </p:sp>
      <p:sp>
        <p:nvSpPr>
          <p:cNvPr id="10" name="t_109"/>
          <p:cNvSpPr txBox="1"/>
          <p:nvPr/>
        </p:nvSpPr>
        <p:spPr>
          <a:xfrm>
            <a:off x="6080760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範例（智慧澆水）</a:t>
            </a:r>
            <a:endParaRPr lang="en-US" sz="1400" dirty="0"/>
          </a:p>
        </p:txBody>
      </p:sp>
      <p:sp>
        <p:nvSpPr>
          <p:cNvPr id="11" name="t_110"/>
          <p:cNvSpPr txBox="1"/>
          <p:nvPr/>
        </p:nvSpPr>
        <p:spPr>
          <a:xfrm>
            <a:off x="6080760" y="2423160"/>
            <a:ext cx="5349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我是植物醫學系大一學生，正在做「智慧澆水」專題。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番茄適合的濕度是 40–70%：低於 40% 要澆水，高於 70% 要停止。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附檔：一週濕度紀錄.xlsx（每 10 分鐘一筆）</a:t>
            </a:r>
            <a:endParaRPr lang="en-US" sz="1700" dirty="0"/>
          </a:p>
        </p:txBody>
      </p:sp>
      <p:sp>
        <p:nvSpPr>
          <p:cNvPr id="12" name="card_111"/>
          <p:cNvSpPr/>
          <p:nvPr/>
        </p:nvSpPr>
        <p:spPr>
          <a:xfrm>
            <a:off x="548640" y="5257800"/>
            <a:ext cx="54864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_112"/>
          <p:cNvSpPr txBox="1"/>
          <p:nvPr/>
        </p:nvSpPr>
        <p:spPr>
          <a:xfrm>
            <a:off x="777240" y="52578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沒寫會怎樣　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會自己編數字和門檻。</a:t>
            </a:r>
            <a:endParaRPr lang="en-US" sz="1800" dirty="0"/>
          </a:p>
        </p:txBody>
      </p:sp>
      <p:sp>
        <p:nvSpPr>
          <p:cNvPr id="14" name="card_113"/>
          <p:cNvSpPr/>
          <p:nvPr/>
        </p:nvSpPr>
        <p:spPr>
          <a:xfrm>
            <a:off x="6217920" y="525780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_114"/>
          <p:cNvSpPr txBox="1"/>
          <p:nvPr/>
        </p:nvSpPr>
        <p:spPr>
          <a:xfrm>
            <a:off x="6446520" y="52578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提醒　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附檔要真的上傳到 AI 對話框；只打檔名，AI 看不到內容。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 角色　Role</a:t>
            </a:r>
            <a:endParaRPr lang="en-US" sz="3600" dirty="0"/>
          </a:p>
        </p:txBody>
      </p:sp>
      <p:sp>
        <p:nvSpPr>
          <p:cNvPr id="3" name="dotR_115"/>
          <p:cNvSpPr/>
          <p:nvPr/>
        </p:nvSpPr>
        <p:spPr>
          <a:xfrm>
            <a:off x="10561320" y="2743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dotTxtR_116"/>
          <p:cNvSpPr txBox="1"/>
          <p:nvPr/>
        </p:nvSpPr>
        <p:spPr>
          <a:xfrm>
            <a:off x="1056132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3400" dirty="0"/>
          </a:p>
        </p:txBody>
      </p:sp>
      <p:sp>
        <p:nvSpPr>
          <p:cNvPr id="5" name="t_117"/>
          <p:cNvSpPr txBox="1"/>
          <p:nvPr/>
        </p:nvSpPr>
        <p:spPr>
          <a:xfrm>
            <a:off x="548640" y="11887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角色扮演定位：AI 是誰、說給誰聽</a:t>
            </a:r>
            <a:endParaRPr lang="en-US" sz="2200" dirty="0"/>
          </a:p>
        </p:txBody>
      </p:sp>
      <p:sp>
        <p:nvSpPr>
          <p:cNvPr id="6" name="card_118"/>
          <p:cNvSpPr/>
          <p:nvPr/>
        </p:nvSpPr>
        <p:spPr>
          <a:xfrm>
            <a:off x="548640" y="1874520"/>
            <a:ext cx="5029200" cy="3154680"/>
          </a:xfrm>
          <a:prstGeom prst="roundRect">
            <a:avLst>
              <a:gd name="adj" fmla="val 3478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_119"/>
          <p:cNvSpPr txBox="1"/>
          <p:nvPr/>
        </p:nvSpPr>
        <p:spPr>
          <a:xfrm>
            <a:off x="7772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填空句</a:t>
            </a:r>
            <a:endParaRPr lang="en-US" sz="1400" dirty="0"/>
          </a:p>
        </p:txBody>
      </p:sp>
      <p:sp>
        <p:nvSpPr>
          <p:cNvPr id="8" name="t_120"/>
          <p:cNvSpPr txBox="1"/>
          <p:nvPr/>
        </p:nvSpPr>
        <p:spPr>
          <a:xfrm>
            <a:off x="777240" y="242316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請你扮演＿＿，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對象是＿＿，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用＿＿的語氣說明。</a:t>
            </a:r>
            <a:endParaRPr lang="en-US" sz="2100" dirty="0"/>
          </a:p>
        </p:txBody>
      </p:sp>
      <p:sp>
        <p:nvSpPr>
          <p:cNvPr id="9" name="card_121"/>
          <p:cNvSpPr/>
          <p:nvPr/>
        </p:nvSpPr>
        <p:spPr>
          <a:xfrm>
            <a:off x="5852160" y="1874520"/>
            <a:ext cx="576072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72033">
                <a:alpha val="12000"/>
              </a:srgbClr>
            </a:outerShdw>
          </a:effectLst>
        </p:spPr>
      </p:sp>
      <p:sp>
        <p:nvSpPr>
          <p:cNvPr id="10" name="t_122"/>
          <p:cNvSpPr txBox="1"/>
          <p:nvPr/>
        </p:nvSpPr>
        <p:spPr>
          <a:xfrm>
            <a:off x="6080760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範例（智慧澆水）</a:t>
            </a:r>
            <a:endParaRPr lang="en-US" sz="1400" dirty="0"/>
          </a:p>
        </p:txBody>
      </p:sp>
      <p:sp>
        <p:nvSpPr>
          <p:cNvPr id="11" name="t_123"/>
          <p:cNvSpPr txBox="1"/>
          <p:nvPr/>
        </p:nvSpPr>
        <p:spPr>
          <a:xfrm>
            <a:off x="6080760" y="2423160"/>
            <a:ext cx="5349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請你扮演有 IoT 經驗的農業技師，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對象是完全沒寫過程式的大一新生，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用白話、一步一步的語氣說明。</a:t>
            </a:r>
            <a:endParaRPr lang="en-US" sz="1700" dirty="0"/>
          </a:p>
        </p:txBody>
      </p:sp>
      <p:sp>
        <p:nvSpPr>
          <p:cNvPr id="12" name="card_124"/>
          <p:cNvSpPr/>
          <p:nvPr/>
        </p:nvSpPr>
        <p:spPr>
          <a:xfrm>
            <a:off x="548640" y="5257800"/>
            <a:ext cx="54864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_125"/>
          <p:cNvSpPr txBox="1"/>
          <p:nvPr/>
        </p:nvSpPr>
        <p:spPr>
          <a:xfrm>
            <a:off x="777240" y="52578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沒寫會怎樣　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答案太泛、太難，或對象不對。</a:t>
            </a:r>
            <a:endParaRPr lang="en-US" sz="1800" dirty="0"/>
          </a:p>
        </p:txBody>
      </p:sp>
      <p:sp>
        <p:nvSpPr>
          <p:cNvPr id="14" name="card_126"/>
          <p:cNvSpPr/>
          <p:nvPr/>
        </p:nvSpPr>
        <p:spPr>
          <a:xfrm>
            <a:off x="6217920" y="525780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_127"/>
          <p:cNvSpPr txBox="1"/>
          <p:nvPr/>
        </p:nvSpPr>
        <p:spPr>
          <a:xfrm>
            <a:off x="6446520" y="52578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提醒　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同一個問題，換一個角色或對象，答案的深度和用詞就會不同。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 指令　Instruction</a:t>
            </a:r>
            <a:endParaRPr lang="en-US" sz="3600" dirty="0"/>
          </a:p>
        </p:txBody>
      </p:sp>
      <p:sp>
        <p:nvSpPr>
          <p:cNvPr id="3" name="dotI_128"/>
          <p:cNvSpPr/>
          <p:nvPr/>
        </p:nvSpPr>
        <p:spPr>
          <a:xfrm>
            <a:off x="10561320" y="2743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dotTxtI_129"/>
          <p:cNvSpPr txBox="1"/>
          <p:nvPr/>
        </p:nvSpPr>
        <p:spPr>
          <a:xfrm>
            <a:off x="1056132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3400" dirty="0"/>
          </a:p>
        </p:txBody>
      </p:sp>
      <p:sp>
        <p:nvSpPr>
          <p:cNvPr id="5" name="t_130"/>
          <p:cNvSpPr txBox="1"/>
          <p:nvPr/>
        </p:nvSpPr>
        <p:spPr>
          <a:xfrm>
            <a:off x="548640" y="11887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提問形式與執行步驟，如 IPO 架構</a:t>
            </a:r>
            <a:endParaRPr lang="en-US" sz="2200" dirty="0"/>
          </a:p>
        </p:txBody>
      </p:sp>
      <p:sp>
        <p:nvSpPr>
          <p:cNvPr id="6" name="card_131"/>
          <p:cNvSpPr/>
          <p:nvPr/>
        </p:nvSpPr>
        <p:spPr>
          <a:xfrm>
            <a:off x="548640" y="1874520"/>
            <a:ext cx="5029200" cy="3154680"/>
          </a:xfrm>
          <a:prstGeom prst="roundRect">
            <a:avLst>
              <a:gd name="adj" fmla="val 3478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_132"/>
          <p:cNvSpPr txBox="1"/>
          <p:nvPr/>
        </p:nvSpPr>
        <p:spPr>
          <a:xfrm>
            <a:off x="7772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填空句</a:t>
            </a:r>
            <a:endParaRPr lang="en-US" sz="1400" dirty="0"/>
          </a:p>
        </p:txBody>
      </p:sp>
      <p:sp>
        <p:nvSpPr>
          <p:cNvPr id="8" name="t_133"/>
          <p:cNvSpPr txBox="1"/>
          <p:nvPr/>
        </p:nvSpPr>
        <p:spPr>
          <a:xfrm>
            <a:off x="777240" y="242316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任務：請幫我＿＿。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用 IPO：輸入＿＿；處理＿＿；輸出＿＿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（或：分步驟／先問我／比較方案）</a:t>
            </a:r>
            <a:endParaRPr lang="en-US" sz="2100" dirty="0"/>
          </a:p>
        </p:txBody>
      </p:sp>
      <p:sp>
        <p:nvSpPr>
          <p:cNvPr id="9" name="card_134"/>
          <p:cNvSpPr/>
          <p:nvPr/>
        </p:nvSpPr>
        <p:spPr>
          <a:xfrm>
            <a:off x="5852160" y="1874520"/>
            <a:ext cx="576072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72033">
                <a:alpha val="12000"/>
              </a:srgbClr>
            </a:outerShdw>
          </a:effectLst>
        </p:spPr>
      </p:sp>
      <p:sp>
        <p:nvSpPr>
          <p:cNvPr id="10" name="t_135"/>
          <p:cNvSpPr txBox="1"/>
          <p:nvPr/>
        </p:nvSpPr>
        <p:spPr>
          <a:xfrm>
            <a:off x="6080760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範例（智慧澆水）</a:t>
            </a:r>
            <a:endParaRPr lang="en-US" sz="1400" dirty="0"/>
          </a:p>
        </p:txBody>
      </p:sp>
      <p:sp>
        <p:nvSpPr>
          <p:cNvPr id="11" name="t_136"/>
          <p:cNvSpPr txBox="1"/>
          <p:nvPr/>
        </p:nvSpPr>
        <p:spPr>
          <a:xfrm>
            <a:off x="6080760" y="2423160"/>
            <a:ext cx="5349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任務：請幫我設計自動澆水的判斷規則，並寫成程式。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輸入：土壤濕度（%）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處理：低於 40% 開水、高於 70% 關水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輸出：「澆水／停止／維持」</a:t>
            </a:r>
            <a:endParaRPr lang="en-US" sz="1700" dirty="0"/>
          </a:p>
        </p:txBody>
      </p:sp>
      <p:sp>
        <p:nvSpPr>
          <p:cNvPr id="12" name="card_137"/>
          <p:cNvSpPr/>
          <p:nvPr/>
        </p:nvSpPr>
        <p:spPr>
          <a:xfrm>
            <a:off x="548640" y="5257800"/>
            <a:ext cx="54864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_138"/>
          <p:cNvSpPr txBox="1"/>
          <p:nvPr/>
        </p:nvSpPr>
        <p:spPr>
          <a:xfrm>
            <a:off x="777240" y="52578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沒寫會怎樣　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只會「介紹一下」。</a:t>
            </a:r>
            <a:endParaRPr lang="en-US" sz="1800" dirty="0"/>
          </a:p>
        </p:txBody>
      </p:sp>
      <p:sp>
        <p:nvSpPr>
          <p:cNvPr id="14" name="card_139"/>
          <p:cNvSpPr/>
          <p:nvPr/>
        </p:nvSpPr>
        <p:spPr>
          <a:xfrm>
            <a:off x="6217920" y="525780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_140"/>
          <p:cNvSpPr txBox="1"/>
          <p:nvPr/>
        </p:nvSpPr>
        <p:spPr>
          <a:xfrm>
            <a:off x="6446520" y="52578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提醒　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用「交代」的，不要用「問」的：「請幫我…」，不是「…怎麼辦？」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 規格　Specifics</a:t>
            </a:r>
            <a:endParaRPr lang="en-US" sz="3600" dirty="0"/>
          </a:p>
        </p:txBody>
      </p:sp>
      <p:sp>
        <p:nvSpPr>
          <p:cNvPr id="3" name="dotS_141"/>
          <p:cNvSpPr/>
          <p:nvPr/>
        </p:nvSpPr>
        <p:spPr>
          <a:xfrm>
            <a:off x="10561320" y="27432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dotTxtS_142"/>
          <p:cNvSpPr txBox="1"/>
          <p:nvPr/>
        </p:nvSpPr>
        <p:spPr>
          <a:xfrm>
            <a:off x="1056132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3400" dirty="0"/>
          </a:p>
        </p:txBody>
      </p:sp>
      <p:sp>
        <p:nvSpPr>
          <p:cNvPr id="5" name="t_143"/>
          <p:cNvSpPr txBox="1"/>
          <p:nvPr/>
        </p:nvSpPr>
        <p:spPr>
          <a:xfrm>
            <a:off x="548640" y="11887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指定輸出格式與條件，如視覺化圖表與網頁</a:t>
            </a:r>
            <a:endParaRPr lang="en-US" sz="2200" dirty="0"/>
          </a:p>
        </p:txBody>
      </p:sp>
      <p:sp>
        <p:nvSpPr>
          <p:cNvPr id="6" name="card_144"/>
          <p:cNvSpPr/>
          <p:nvPr/>
        </p:nvSpPr>
        <p:spPr>
          <a:xfrm>
            <a:off x="548640" y="1874520"/>
            <a:ext cx="5029200" cy="3154680"/>
          </a:xfrm>
          <a:prstGeom prst="roundRect">
            <a:avLst>
              <a:gd name="adj" fmla="val 3478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_145"/>
          <p:cNvSpPr txBox="1"/>
          <p:nvPr/>
        </p:nvSpPr>
        <p:spPr>
          <a:xfrm>
            <a:off x="7772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填空句</a:t>
            </a:r>
            <a:endParaRPr lang="en-US" sz="1400" dirty="0"/>
          </a:p>
        </p:txBody>
      </p:sp>
      <p:sp>
        <p:nvSpPr>
          <p:cNvPr id="8" name="t_146"/>
          <p:cNvSpPr txBox="1"/>
          <p:nvPr/>
        </p:nvSpPr>
        <p:spPr>
          <a:xfrm>
            <a:off x="777240" y="242316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輸出成＿＿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（表格／圖表／網頁／流程圖／Python／條列）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條件：＿＿（等號、單位、字數、語言）</a:t>
            </a:r>
            <a:endParaRPr lang="en-US" sz="2100" dirty="0"/>
          </a:p>
        </p:txBody>
      </p:sp>
      <p:sp>
        <p:nvSpPr>
          <p:cNvPr id="9" name="card_147"/>
          <p:cNvSpPr/>
          <p:nvPr/>
        </p:nvSpPr>
        <p:spPr>
          <a:xfrm>
            <a:off x="5852160" y="1874520"/>
            <a:ext cx="576072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72033">
                <a:alpha val="12000"/>
              </a:srgbClr>
            </a:outerShdw>
          </a:effectLst>
        </p:spPr>
      </p:sp>
      <p:sp>
        <p:nvSpPr>
          <p:cNvPr id="10" name="t_148"/>
          <p:cNvSpPr txBox="1"/>
          <p:nvPr/>
        </p:nvSpPr>
        <p:spPr>
          <a:xfrm>
            <a:off x="6080760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範例（智慧澆水）</a:t>
            </a:r>
            <a:endParaRPr lang="en-US" sz="1400" dirty="0"/>
          </a:p>
        </p:txBody>
      </p:sp>
      <p:sp>
        <p:nvSpPr>
          <p:cNvPr id="11" name="t_149"/>
          <p:cNvSpPr txBox="1"/>
          <p:nvPr/>
        </p:nvSpPr>
        <p:spPr>
          <a:xfrm>
            <a:off x="6080760" y="2423160"/>
            <a:ext cx="5349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輸出：Python 程式，能在 Google Colab 直接執行，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用 input() 讓我輸入濕度，印出判斷結果。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條件：用繁體中文；剛好 40% 算要澆水，剛好 70% 算要停止。</a:t>
            </a:r>
            <a:endParaRPr lang="en-US" sz="1700" dirty="0"/>
          </a:p>
        </p:txBody>
      </p:sp>
      <p:sp>
        <p:nvSpPr>
          <p:cNvPr id="12" name="card_150"/>
          <p:cNvSpPr/>
          <p:nvPr/>
        </p:nvSpPr>
        <p:spPr>
          <a:xfrm>
            <a:off x="548640" y="5257800"/>
            <a:ext cx="54864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_151"/>
          <p:cNvSpPr txBox="1"/>
          <p:nvPr/>
        </p:nvSpPr>
        <p:spPr>
          <a:xfrm>
            <a:off x="777240" y="52578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沒寫會怎樣　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一大段文字，難驗收、難比較。</a:t>
            </a:r>
            <a:endParaRPr lang="en-US" sz="1800" dirty="0"/>
          </a:p>
        </p:txBody>
      </p:sp>
      <p:sp>
        <p:nvSpPr>
          <p:cNvPr id="14" name="card_152"/>
          <p:cNvSpPr/>
          <p:nvPr/>
        </p:nvSpPr>
        <p:spPr>
          <a:xfrm>
            <a:off x="6217920" y="525780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_153"/>
          <p:cNvSpPr txBox="1"/>
          <p:nvPr/>
        </p:nvSpPr>
        <p:spPr>
          <a:xfrm>
            <a:off x="6446520" y="52578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提醒　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門檻的等號一定要寫：剛好卡在 40% 算哪一邊？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 驗證　Proof</a:t>
            </a:r>
            <a:endParaRPr lang="en-US" sz="3600" dirty="0"/>
          </a:p>
        </p:txBody>
      </p:sp>
      <p:sp>
        <p:nvSpPr>
          <p:cNvPr id="3" name="dotP_154"/>
          <p:cNvSpPr/>
          <p:nvPr/>
        </p:nvSpPr>
        <p:spPr>
          <a:xfrm>
            <a:off x="10561320" y="274320"/>
            <a:ext cx="914400" cy="9144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dotTxtP_155"/>
          <p:cNvSpPr txBox="1"/>
          <p:nvPr/>
        </p:nvSpPr>
        <p:spPr>
          <a:xfrm>
            <a:off x="1056132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3400" dirty="0"/>
          </a:p>
        </p:txBody>
      </p:sp>
      <p:sp>
        <p:nvSpPr>
          <p:cNvPr id="5" name="t_156"/>
          <p:cNvSpPr txBox="1"/>
          <p:nvPr/>
        </p:nvSpPr>
        <p:spPr>
          <a:xfrm>
            <a:off x="548640" y="11887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模擬驗證、迭代修正，如程式模擬、影音驗證情境可行性</a:t>
            </a:r>
            <a:endParaRPr lang="en-US" sz="2200" dirty="0"/>
          </a:p>
        </p:txBody>
      </p:sp>
      <p:sp>
        <p:nvSpPr>
          <p:cNvPr id="6" name="card_157"/>
          <p:cNvSpPr/>
          <p:nvPr/>
        </p:nvSpPr>
        <p:spPr>
          <a:xfrm>
            <a:off x="548640" y="1874520"/>
            <a:ext cx="5029200" cy="3154680"/>
          </a:xfrm>
          <a:prstGeom prst="roundRect">
            <a:avLst>
              <a:gd name="adj" fmla="val 3478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_158"/>
          <p:cNvSpPr txBox="1"/>
          <p:nvPr/>
        </p:nvSpPr>
        <p:spPr>
          <a:xfrm>
            <a:off x="7772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填空句</a:t>
            </a:r>
            <a:endParaRPr lang="en-US" sz="1400" dirty="0"/>
          </a:p>
        </p:txBody>
      </p:sp>
      <p:sp>
        <p:nvSpPr>
          <p:cNvPr id="8" name="t_159"/>
          <p:cNvSpPr txBox="1"/>
          <p:nvPr/>
        </p:nvSpPr>
        <p:spPr>
          <a:xfrm>
            <a:off x="777240" y="242316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用＿＿測試資料模擬執行，列出預期與實際；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不符合＿＿就修正，最多＿＿輪；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（影音）到＿＿實拍，驗證情境可行性</a:t>
            </a:r>
            <a:endParaRPr lang="en-US" sz="2100" dirty="0"/>
          </a:p>
        </p:txBody>
      </p:sp>
      <p:sp>
        <p:nvSpPr>
          <p:cNvPr id="9" name="card_160"/>
          <p:cNvSpPr/>
          <p:nvPr/>
        </p:nvSpPr>
        <p:spPr>
          <a:xfrm>
            <a:off x="5852160" y="1874520"/>
            <a:ext cx="576072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72033">
                <a:alpha val="12000"/>
              </a:srgbClr>
            </a:outerShdw>
          </a:effectLst>
        </p:spPr>
      </p:sp>
      <p:sp>
        <p:nvSpPr>
          <p:cNvPr id="10" name="t_161"/>
          <p:cNvSpPr txBox="1"/>
          <p:nvPr/>
        </p:nvSpPr>
        <p:spPr>
          <a:xfrm>
            <a:off x="6080760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範例（智慧澆水）</a:t>
            </a:r>
            <a:endParaRPr lang="en-US" sz="1400" dirty="0"/>
          </a:p>
        </p:txBody>
      </p:sp>
      <p:sp>
        <p:nvSpPr>
          <p:cNvPr id="11" name="t_162"/>
          <p:cNvSpPr txBox="1"/>
          <p:nvPr/>
        </p:nvSpPr>
        <p:spPr>
          <a:xfrm>
            <a:off x="6080760" y="2423160"/>
            <a:ext cx="5349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請用 25%、40%、55%、70%、85%、-5%、abc 模擬執行，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列出「輸入｜預期｜實際｜是否一致」；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不符合門檻就修正再驗證，最多 2 輪；最後列出不確定的地方。</a:t>
            </a:r>
            <a:endParaRPr lang="en-US" sz="1700" dirty="0"/>
          </a:p>
        </p:txBody>
      </p:sp>
      <p:sp>
        <p:nvSpPr>
          <p:cNvPr id="12" name="card_163"/>
          <p:cNvSpPr/>
          <p:nvPr/>
        </p:nvSpPr>
        <p:spPr>
          <a:xfrm>
            <a:off x="548640" y="5257800"/>
            <a:ext cx="54864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_164"/>
          <p:cNvSpPr txBox="1"/>
          <p:nvPr/>
        </p:nvSpPr>
        <p:spPr>
          <a:xfrm>
            <a:off x="777240" y="52578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沒寫會怎樣　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錯了，你也不知道。</a:t>
            </a:r>
            <a:endParaRPr lang="en-US" sz="1800" dirty="0"/>
          </a:p>
        </p:txBody>
      </p:sp>
      <p:sp>
        <p:nvSpPr>
          <p:cNvPr id="14" name="card_165"/>
          <p:cNvSpPr/>
          <p:nvPr/>
        </p:nvSpPr>
        <p:spPr>
          <a:xfrm>
            <a:off x="6217920" y="525780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_166"/>
          <p:cNvSpPr txBox="1"/>
          <p:nvPr/>
        </p:nvSpPr>
        <p:spPr>
          <a:xfrm>
            <a:off x="6446520" y="52578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提醒　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測試資料三種都要有：一般值、剛好卡線、怪資料。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組起來：一段完整的 CRISP 提示</a:t>
            </a:r>
            <a:endParaRPr lang="en-US" sz="3600" dirty="0"/>
          </a:p>
        </p:txBody>
      </p:sp>
      <p:sp>
        <p:nvSpPr>
          <p:cNvPr id="3" name="card_167"/>
          <p:cNvSpPr/>
          <p:nvPr/>
        </p:nvSpPr>
        <p:spPr>
          <a:xfrm>
            <a:off x="548640" y="1280160"/>
            <a:ext cx="11064240" cy="4992624"/>
          </a:xfrm>
          <a:prstGeom prst="roundRect">
            <a:avLst>
              <a:gd name="adj" fmla="val 21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C_168"/>
          <p:cNvSpPr/>
          <p:nvPr/>
        </p:nvSpPr>
        <p:spPr>
          <a:xfrm>
            <a:off x="777240" y="15270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dotTxtC_169"/>
          <p:cNvSpPr txBox="1"/>
          <p:nvPr/>
        </p:nvSpPr>
        <p:spPr>
          <a:xfrm>
            <a:off x="77724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6" name="t_170"/>
          <p:cNvSpPr txBox="1"/>
          <p:nvPr/>
        </p:nvSpPr>
        <p:spPr>
          <a:xfrm>
            <a:off x="1325880" y="150876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背景：我是植物醫學系大一學生，正在做「智慧澆水」AI 賦能專題。</a:t>
            </a:r>
            <a:endParaRPr lang="en-US" sz="1700" dirty="0"/>
          </a:p>
        </p:txBody>
      </p:sp>
      <p:sp>
        <p:nvSpPr>
          <p:cNvPr id="7" name="dotC_171"/>
          <p:cNvSpPr/>
          <p:nvPr/>
        </p:nvSpPr>
        <p:spPr>
          <a:xfrm>
            <a:off x="777240" y="21122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dotTxtC_172"/>
          <p:cNvSpPr txBox="1"/>
          <p:nvPr/>
        </p:nvSpPr>
        <p:spPr>
          <a:xfrm>
            <a:off x="77724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9" name="t_173"/>
          <p:cNvSpPr txBox="1"/>
          <p:nvPr/>
        </p:nvSpPr>
        <p:spPr>
          <a:xfrm>
            <a:off x="1325880" y="2093976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細節：番茄適合的濕度是 40–70%：低於 40% 要澆水，高於 70% 要停止。</a:t>
            </a:r>
            <a:endParaRPr lang="en-US" sz="1700" dirty="0"/>
          </a:p>
        </p:txBody>
      </p:sp>
      <p:sp>
        <p:nvSpPr>
          <p:cNvPr id="10" name="dotR_174"/>
          <p:cNvSpPr/>
          <p:nvPr/>
        </p:nvSpPr>
        <p:spPr>
          <a:xfrm>
            <a:off x="777240" y="26974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dotTxtR_175"/>
          <p:cNvSpPr txBox="1"/>
          <p:nvPr/>
        </p:nvSpPr>
        <p:spPr>
          <a:xfrm>
            <a:off x="7772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300" dirty="0"/>
          </a:p>
        </p:txBody>
      </p:sp>
      <p:sp>
        <p:nvSpPr>
          <p:cNvPr id="12" name="t_176"/>
          <p:cNvSpPr txBox="1"/>
          <p:nvPr/>
        </p:nvSpPr>
        <p:spPr>
          <a:xfrm>
            <a:off x="1325880" y="2679192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請你扮演有 IoT 經驗的農業技師，對象是完全沒寫過程式的大一新生，用白話、一步一步的語氣說明。</a:t>
            </a:r>
            <a:endParaRPr lang="en-US" sz="1700" dirty="0"/>
          </a:p>
        </p:txBody>
      </p:sp>
      <p:sp>
        <p:nvSpPr>
          <p:cNvPr id="13" name="dotI_177"/>
          <p:cNvSpPr/>
          <p:nvPr/>
        </p:nvSpPr>
        <p:spPr>
          <a:xfrm>
            <a:off x="777240" y="328269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dotTxtI_178"/>
          <p:cNvSpPr txBox="1"/>
          <p:nvPr/>
        </p:nvSpPr>
        <p:spPr>
          <a:xfrm>
            <a:off x="77724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300" dirty="0"/>
          </a:p>
        </p:txBody>
      </p:sp>
      <p:sp>
        <p:nvSpPr>
          <p:cNvPr id="15" name="t_179"/>
          <p:cNvSpPr txBox="1"/>
          <p:nvPr/>
        </p:nvSpPr>
        <p:spPr>
          <a:xfrm>
            <a:off x="1325880" y="326440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任務：請幫我設計自動澆水的判斷規則，並寫成程式。請用 IPO 架構思考：輸入土壤濕度（%）；處理：低於 40% 開水、高於 70% 關水；輸出「澆水／停止／維持」。</a:t>
            </a:r>
            <a:endParaRPr lang="en-US" sz="1700" dirty="0"/>
          </a:p>
        </p:txBody>
      </p:sp>
      <p:sp>
        <p:nvSpPr>
          <p:cNvPr id="16" name="dotS_180"/>
          <p:cNvSpPr/>
          <p:nvPr/>
        </p:nvSpPr>
        <p:spPr>
          <a:xfrm>
            <a:off x="777240" y="417880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dotTxtS_181"/>
          <p:cNvSpPr txBox="1"/>
          <p:nvPr/>
        </p:nvSpPr>
        <p:spPr>
          <a:xfrm>
            <a:off x="77724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300" dirty="0"/>
          </a:p>
        </p:txBody>
      </p:sp>
      <p:sp>
        <p:nvSpPr>
          <p:cNvPr id="18" name="t_182"/>
          <p:cNvSpPr txBox="1"/>
          <p:nvPr/>
        </p:nvSpPr>
        <p:spPr>
          <a:xfrm>
            <a:off x="1325880" y="416052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輸出：Python 程式，能在 Google Colab 直接執行，用 input() 讓我輸入濕度，印出判斷結果。</a:t>
            </a:r>
            <a:endParaRPr lang="en-US" sz="1700" dirty="0"/>
          </a:p>
        </p:txBody>
      </p:sp>
      <p:sp>
        <p:nvSpPr>
          <p:cNvPr id="19" name="dotS_183"/>
          <p:cNvSpPr/>
          <p:nvPr/>
        </p:nvSpPr>
        <p:spPr>
          <a:xfrm>
            <a:off x="777240" y="476402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dotTxtS_184"/>
          <p:cNvSpPr txBox="1"/>
          <p:nvPr/>
        </p:nvSpPr>
        <p:spPr>
          <a:xfrm>
            <a:off x="777240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_185"/>
          <p:cNvSpPr txBox="1"/>
          <p:nvPr/>
        </p:nvSpPr>
        <p:spPr>
          <a:xfrm>
            <a:off x="1325880" y="4745736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條件：用繁體中文；只用我給的資料；剛好 40% 算要澆水，剛好 70% 算要停止。</a:t>
            </a:r>
            <a:endParaRPr lang="en-US" sz="1700" dirty="0"/>
          </a:p>
        </p:txBody>
      </p:sp>
      <p:sp>
        <p:nvSpPr>
          <p:cNvPr id="22" name="dotP_186"/>
          <p:cNvSpPr/>
          <p:nvPr/>
        </p:nvSpPr>
        <p:spPr>
          <a:xfrm>
            <a:off x="777240" y="534924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dotTxtP_187"/>
          <p:cNvSpPr txBox="1"/>
          <p:nvPr/>
        </p:nvSpPr>
        <p:spPr>
          <a:xfrm>
            <a:off x="7772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300" dirty="0"/>
          </a:p>
        </p:txBody>
      </p:sp>
      <p:sp>
        <p:nvSpPr>
          <p:cNvPr id="24" name="t_188"/>
          <p:cNvSpPr txBox="1"/>
          <p:nvPr/>
        </p:nvSpPr>
        <p:spPr>
          <a:xfrm>
            <a:off x="1325880" y="5330952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驗證：請用 25%、40%、55%、70%、85%、-5%、abc 模擬執行，列出「輸入｜預期｜實際｜是否一致」；不符合門檻就修正再驗證，最多 2 輪。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AI 會說謊：一個真實案例</a:t>
            </a:r>
            <a:endParaRPr lang="en-US" sz="3600" dirty="0"/>
          </a:p>
        </p:txBody>
      </p:sp>
      <p:sp>
        <p:nvSpPr>
          <p:cNvPr id="3" name="card_189"/>
          <p:cNvSpPr/>
          <p:nvPr/>
        </p:nvSpPr>
        <p:spPr>
          <a:xfrm>
            <a:off x="548640" y="1280160"/>
            <a:ext cx="6583680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_190"/>
          <p:cNvSpPr txBox="1"/>
          <p:nvPr/>
        </p:nvSpPr>
        <p:spPr>
          <a:xfrm>
            <a:off x="777240" y="14173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2026/10/30 實測：老師代管的 Gemini 只收得到文字、收不到檔案</a:t>
            </a:r>
            <a:endParaRPr lang="en-US" sz="1500" dirty="0"/>
          </a:p>
        </p:txBody>
      </p:sp>
      <p:sp>
        <p:nvSpPr>
          <p:cNvPr id="5" name="t_191"/>
          <p:cNvSpPr txBox="1"/>
          <p:nvPr/>
        </p:nvSpPr>
        <p:spPr>
          <a:xfrm>
            <a:off x="777240" y="18745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「首先，我已經讀取了你上傳的『一週濕度紀錄.xlsx』……」</a:t>
            </a:r>
            <a:endParaRPr lang="en-US" sz="2600" dirty="0"/>
          </a:p>
        </p:txBody>
      </p:sp>
      <p:sp>
        <p:nvSpPr>
          <p:cNvPr id="6" name="t_192"/>
          <p:cNvSpPr txBox="1"/>
          <p:nvPr/>
        </p:nvSpPr>
        <p:spPr>
          <a:xfrm>
            <a:off x="777240" y="32918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它根本沒有收到檔案。AI 不知道的時候，常會編一個「看起來很像」的答案。</a:t>
            </a:r>
            <a:endParaRPr lang="en-US" sz="1800" dirty="0"/>
          </a:p>
        </p:txBody>
      </p:sp>
      <p:sp>
        <p:nvSpPr>
          <p:cNvPr id="7" name="t_193"/>
          <p:cNvSpPr txBox="1"/>
          <p:nvPr/>
        </p:nvSpPr>
        <p:spPr>
          <a:xfrm>
            <a:off x="548640" y="4434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三個解藥</a:t>
            </a:r>
            <a:endParaRPr lang="en-US" sz="2000" dirty="0"/>
          </a:p>
        </p:txBody>
      </p:sp>
      <p:sp>
        <p:nvSpPr>
          <p:cNvPr id="8" name="dotS_194"/>
          <p:cNvSpPr/>
          <p:nvPr/>
        </p:nvSpPr>
        <p:spPr>
          <a:xfrm>
            <a:off x="548640" y="4928616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dotTxtS_195"/>
          <p:cNvSpPr txBox="1"/>
          <p:nvPr/>
        </p:nvSpPr>
        <p:spPr>
          <a:xfrm>
            <a:off x="548640" y="4928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200" dirty="0"/>
          </a:p>
        </p:txBody>
      </p:sp>
      <p:sp>
        <p:nvSpPr>
          <p:cNvPr id="10" name="t_196"/>
          <p:cNvSpPr txBox="1"/>
          <p:nvPr/>
        </p:nvSpPr>
        <p:spPr>
          <a:xfrm>
            <a:off x="1005840" y="48920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條件寫「不確定就說不確定」</a:t>
            </a:r>
            <a:endParaRPr lang="en-US" sz="1800" dirty="0"/>
          </a:p>
        </p:txBody>
      </p:sp>
      <p:sp>
        <p:nvSpPr>
          <p:cNvPr id="11" name="dotP_197"/>
          <p:cNvSpPr/>
          <p:nvPr/>
        </p:nvSpPr>
        <p:spPr>
          <a:xfrm>
            <a:off x="548640" y="5385816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dotTxtP_198"/>
          <p:cNvSpPr txBox="1"/>
          <p:nvPr/>
        </p:nvSpPr>
        <p:spPr>
          <a:xfrm>
            <a:off x="548640" y="5385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t_199"/>
          <p:cNvSpPr txBox="1"/>
          <p:nvPr/>
        </p:nvSpPr>
        <p:spPr>
          <a:xfrm>
            <a:off x="1005840" y="53492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要求「列出不確定的地方與查證處」</a:t>
            </a:r>
            <a:endParaRPr lang="en-US" sz="1800" dirty="0"/>
          </a:p>
        </p:txBody>
      </p:sp>
      <p:sp>
        <p:nvSpPr>
          <p:cNvPr id="14" name="dotP_200"/>
          <p:cNvSpPr/>
          <p:nvPr/>
        </p:nvSpPr>
        <p:spPr>
          <a:xfrm>
            <a:off x="548640" y="5843016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dotTxtP_201"/>
          <p:cNvSpPr txBox="1"/>
          <p:nvPr/>
        </p:nvSpPr>
        <p:spPr>
          <a:xfrm>
            <a:off x="548640" y="5843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200" dirty="0"/>
          </a:p>
        </p:txBody>
      </p:sp>
      <p:sp>
        <p:nvSpPr>
          <p:cNvPr id="16" name="t_202"/>
          <p:cNvSpPr txBox="1"/>
          <p:nvPr/>
        </p:nvSpPr>
        <p:spPr>
          <a:xfrm>
            <a:off x="1005840" y="58064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要求「一步一步說明你怎麼判斷」</a:t>
            </a:r>
            <a:endParaRPr lang="en-US" sz="1800" dirty="0"/>
          </a:p>
        </p:txBody>
      </p:sp>
      <p:sp>
        <p:nvSpPr>
          <p:cNvPr id="17" name="t_203"/>
          <p:cNvSpPr txBox="1"/>
          <p:nvPr/>
        </p:nvSpPr>
        <p:spPr>
          <a:xfrm>
            <a:off x="7589520" y="1280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查核三問</a:t>
            </a:r>
            <a:endParaRPr lang="en-US" sz="2200" dirty="0"/>
          </a:p>
        </p:txBody>
      </p:sp>
      <p:sp>
        <p:nvSpPr>
          <p:cNvPr id="18" name="card_204"/>
          <p:cNvSpPr/>
          <p:nvPr/>
        </p:nvSpPr>
        <p:spPr>
          <a:xfrm>
            <a:off x="7589520" y="1828800"/>
            <a:ext cx="40233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72033">
                <a:alpha val="12000"/>
              </a:srgbClr>
            </a:outerShdw>
          </a:effectLst>
        </p:spPr>
      </p:sp>
      <p:sp>
        <p:nvSpPr>
          <p:cNvPr id="19" name="t_205"/>
          <p:cNvSpPr txBox="1"/>
          <p:nvPr/>
        </p:nvSpPr>
        <p:spPr>
          <a:xfrm>
            <a:off x="78181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是真的嗎？</a:t>
            </a:r>
            <a:endParaRPr lang="en-US" sz="2200" dirty="0"/>
          </a:p>
        </p:txBody>
      </p:sp>
      <p:sp>
        <p:nvSpPr>
          <p:cNvPr id="20" name="t_206"/>
          <p:cNvSpPr txBox="1"/>
          <p:nvPr/>
        </p:nvSpPr>
        <p:spPr>
          <a:xfrm>
            <a:off x="781812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找得到原始出處嗎？</a:t>
            </a:r>
            <a:endParaRPr lang="en-US" sz="1700" dirty="0"/>
          </a:p>
        </p:txBody>
      </p:sp>
      <p:sp>
        <p:nvSpPr>
          <p:cNvPr id="21" name="card_207"/>
          <p:cNvSpPr/>
          <p:nvPr/>
        </p:nvSpPr>
        <p:spPr>
          <a:xfrm>
            <a:off x="7589520" y="3246120"/>
            <a:ext cx="40233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72033">
                <a:alpha val="12000"/>
              </a:srgbClr>
            </a:outerShdw>
          </a:effectLst>
        </p:spPr>
      </p:sp>
      <p:sp>
        <p:nvSpPr>
          <p:cNvPr id="22" name="t_208"/>
          <p:cNvSpPr txBox="1"/>
          <p:nvPr/>
        </p:nvSpPr>
        <p:spPr>
          <a:xfrm>
            <a:off x="781812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做得到嗎？</a:t>
            </a:r>
            <a:endParaRPr lang="en-US" sz="2200" dirty="0"/>
          </a:p>
        </p:txBody>
      </p:sp>
      <p:sp>
        <p:nvSpPr>
          <p:cNvPr id="23" name="t_209"/>
          <p:cNvSpPr txBox="1"/>
          <p:nvPr/>
        </p:nvSpPr>
        <p:spPr>
          <a:xfrm>
            <a:off x="781812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電源、預算、誰來維護？</a:t>
            </a:r>
            <a:endParaRPr lang="en-US" sz="1700" dirty="0"/>
          </a:p>
        </p:txBody>
      </p:sp>
      <p:sp>
        <p:nvSpPr>
          <p:cNvPr id="24" name="card_210"/>
          <p:cNvSpPr/>
          <p:nvPr/>
        </p:nvSpPr>
        <p:spPr>
          <a:xfrm>
            <a:off x="7589520" y="4663440"/>
            <a:ext cx="40233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72033">
                <a:alpha val="12000"/>
              </a:srgbClr>
            </a:outerShdw>
          </a:effectLst>
        </p:spPr>
      </p:sp>
      <p:sp>
        <p:nvSpPr>
          <p:cNvPr id="25" name="t_211"/>
          <p:cNvSpPr txBox="1"/>
          <p:nvPr/>
        </p:nvSpPr>
        <p:spPr>
          <a:xfrm>
            <a:off x="7818120" y="4800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誰負責？</a:t>
            </a:r>
            <a:endParaRPr lang="en-US" sz="2200" dirty="0"/>
          </a:p>
        </p:txBody>
      </p:sp>
      <p:sp>
        <p:nvSpPr>
          <p:cNvPr id="26" name="t_212"/>
          <p:cNvSpPr txBox="1"/>
          <p:nvPr/>
        </p:nvSpPr>
        <p:spPr>
          <a:xfrm>
            <a:off x="7818120" y="5303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做錯的代價、有沒有隱私問題？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先思考，後驗證：驗收帳</a:t>
            </a:r>
            <a:endParaRPr lang="en-US" sz="3600" dirty="0"/>
          </a:p>
        </p:txBody>
      </p:sp>
      <p:sp>
        <p:nvSpPr>
          <p:cNvPr id="3" name="stepDot_213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_21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_215"/>
          <p:cNvSpPr txBox="1"/>
          <p:nvPr/>
        </p:nvSpPr>
        <p:spPr>
          <a:xfrm>
            <a:off x="1280160" y="1344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先寫預測</a:t>
            </a:r>
            <a:endParaRPr lang="en-US" sz="2100" dirty="0"/>
          </a:p>
        </p:txBody>
      </p:sp>
      <p:sp>
        <p:nvSpPr>
          <p:cNvPr id="6" name="t_216"/>
          <p:cNvSpPr txBox="1"/>
          <p:nvPr/>
        </p:nvSpPr>
        <p:spPr>
          <a:xfrm>
            <a:off x="1280160" y="1764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8 題自己先判</a:t>
            </a:r>
            <a:endParaRPr lang="en-US" sz="1500" dirty="0"/>
          </a:p>
        </p:txBody>
      </p:sp>
      <p:sp>
        <p:nvSpPr>
          <p:cNvPr id="7" name="stepDot_217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_218"/>
          <p:cNvSpPr txBox="1"/>
          <p:nvPr/>
        </p:nvSpPr>
        <p:spPr>
          <a:xfrm>
            <a:off x="54864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_219"/>
          <p:cNvSpPr txBox="1"/>
          <p:nvPr/>
        </p:nvSpPr>
        <p:spPr>
          <a:xfrm>
            <a:off x="1280160" y="22768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再問 AI</a:t>
            </a:r>
            <a:endParaRPr lang="en-US" sz="2100" dirty="0"/>
          </a:p>
        </p:txBody>
      </p:sp>
      <p:sp>
        <p:nvSpPr>
          <p:cNvPr id="10" name="t_220"/>
          <p:cNvSpPr txBox="1"/>
          <p:nvPr/>
        </p:nvSpPr>
        <p:spPr>
          <a:xfrm>
            <a:off x="128016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同一份規則</a:t>
            </a:r>
            <a:endParaRPr lang="en-US" sz="1500" dirty="0"/>
          </a:p>
        </p:txBody>
      </p:sp>
      <p:sp>
        <p:nvSpPr>
          <p:cNvPr id="11" name="stepDot_221"/>
          <p:cNvSpPr/>
          <p:nvPr/>
        </p:nvSpPr>
        <p:spPr>
          <a:xfrm>
            <a:off x="548640" y="3282696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_222"/>
          <p:cNvSpPr txBox="1"/>
          <p:nvPr/>
        </p:nvSpPr>
        <p:spPr>
          <a:xfrm>
            <a:off x="54864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_223"/>
          <p:cNvSpPr txBox="1"/>
          <p:nvPr/>
        </p:nvSpPr>
        <p:spPr>
          <a:xfrm>
            <a:off x="1280160" y="32095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逐題對答案</a:t>
            </a:r>
            <a:endParaRPr lang="en-US" sz="2100" dirty="0"/>
          </a:p>
        </p:txBody>
      </p:sp>
      <p:sp>
        <p:nvSpPr>
          <p:cNvPr id="14" name="t_224"/>
          <p:cNvSpPr txBox="1"/>
          <p:nvPr/>
        </p:nvSpPr>
        <p:spPr>
          <a:xfrm>
            <a:off x="1280160" y="3630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✔ 一致　✘ 不一致</a:t>
            </a:r>
            <a:endParaRPr lang="en-US" sz="1500" dirty="0"/>
          </a:p>
        </p:txBody>
      </p:sp>
      <p:sp>
        <p:nvSpPr>
          <p:cNvPr id="15" name="stepDot_225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_226"/>
          <p:cNvSpPr txBox="1"/>
          <p:nvPr/>
        </p:nvSpPr>
        <p:spPr>
          <a:xfrm>
            <a:off x="54864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_227"/>
          <p:cNvSpPr txBox="1"/>
          <p:nvPr/>
        </p:nvSpPr>
        <p:spPr>
          <a:xfrm>
            <a:off x="1280160" y="4142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找原因</a:t>
            </a:r>
            <a:endParaRPr lang="en-US" sz="2100" dirty="0"/>
          </a:p>
        </p:txBody>
      </p:sp>
      <p:sp>
        <p:nvSpPr>
          <p:cNvPr id="18" name="t_228"/>
          <p:cNvSpPr txBox="1"/>
          <p:nvPr/>
        </p:nvSpPr>
        <p:spPr>
          <a:xfrm>
            <a:off x="1280160" y="45628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提示沒寫清楚／AI 判錯／我預測錯</a:t>
            </a:r>
            <a:endParaRPr lang="en-US" sz="1500" dirty="0"/>
          </a:p>
        </p:txBody>
      </p:sp>
      <p:sp>
        <p:nvSpPr>
          <p:cNvPr id="19" name="stepDot_229"/>
          <p:cNvSpPr/>
          <p:nvPr/>
        </p:nvSpPr>
        <p:spPr>
          <a:xfrm>
            <a:off x="548640" y="5148072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_230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_231"/>
          <p:cNvSpPr txBox="1"/>
          <p:nvPr/>
        </p:nvSpPr>
        <p:spPr>
          <a:xfrm>
            <a:off x="1280160" y="5074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改提示再跑</a:t>
            </a:r>
            <a:endParaRPr lang="en-US" sz="2100" dirty="0"/>
          </a:p>
        </p:txBody>
      </p:sp>
      <p:sp>
        <p:nvSpPr>
          <p:cNvPr id="22" name="t_232"/>
          <p:cNvSpPr txBox="1"/>
          <p:nvPr/>
        </p:nvSpPr>
        <p:spPr>
          <a:xfrm>
            <a:off x="1280160" y="54955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把等號寫進 S 條件</a:t>
            </a:r>
            <a:endParaRPr lang="en-US" sz="1500" dirty="0"/>
          </a:p>
        </p:txBody>
      </p:sp>
      <p:pic>
        <p:nvPicPr>
          <p:cNvPr id="23" name="shotTest_233" descr="/tmp/claude-0/-home-claude/9315ac37-6bce-57ff-8533-69e09da5de6f/scratchpad/handout/img/too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25880"/>
            <a:ext cx="6858000" cy="4069080"/>
          </a:xfrm>
          <a:prstGeom prst="rect">
            <a:avLst/>
          </a:prstGeom>
        </p:spPr>
      </p:pic>
      <p:sp>
        <p:nvSpPr>
          <p:cNvPr id="24" name="card_234"/>
          <p:cNvSpPr/>
          <p:nvPr/>
        </p:nvSpPr>
        <p:spPr>
          <a:xfrm>
            <a:off x="4754880" y="5532120"/>
            <a:ext cx="6858000" cy="685800"/>
          </a:xfrm>
          <a:prstGeom prst="roundRect">
            <a:avLst>
              <a:gd name="adj" fmla="val 1600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_235"/>
          <p:cNvSpPr txBox="1"/>
          <p:nvPr/>
        </p:nvSpPr>
        <p:spPr>
          <a:xfrm>
            <a:off x="4937760" y="55321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CO₂ 8 題：一般值 3、剛好卡線 3（999、1000、1500）、怪資料 2（-80、12OO）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工具①：CRISP 提示工坊（網頁版）</a:t>
            </a:r>
            <a:endParaRPr lang="en-US" sz="3600" dirty="0"/>
          </a:p>
        </p:txBody>
      </p:sp>
      <p:pic>
        <p:nvPicPr>
          <p:cNvPr id="3" name="shotWrite_236" descr="/tmp/claude-0/-home-claude/9315ac37-6bce-57ff-8533-69e09da5de6f/scratchpad/handout/img/tool_wr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406640" cy="4398264"/>
          </a:xfrm>
          <a:prstGeom prst="rect">
            <a:avLst/>
          </a:prstGeom>
        </p:spPr>
      </p:pic>
      <p:sp>
        <p:nvSpPr>
          <p:cNvPr id="4" name="tabDot_237"/>
          <p:cNvSpPr/>
          <p:nvPr/>
        </p:nvSpPr>
        <p:spPr>
          <a:xfrm>
            <a:off x="8229600" y="1353312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_238"/>
          <p:cNvSpPr txBox="1"/>
          <p:nvPr/>
        </p:nvSpPr>
        <p:spPr>
          <a:xfrm>
            <a:off x="822960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_239"/>
          <p:cNvSpPr txBox="1"/>
          <p:nvPr/>
        </p:nvSpPr>
        <p:spPr>
          <a:xfrm>
            <a:off x="886968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寫提示</a:t>
            </a:r>
            <a:endParaRPr lang="en-US" sz="1900" dirty="0"/>
          </a:p>
        </p:txBody>
      </p:sp>
      <p:sp>
        <p:nvSpPr>
          <p:cNvPr id="7" name="t_240"/>
          <p:cNvSpPr txBox="1"/>
          <p:nvPr/>
        </p:nvSpPr>
        <p:spPr>
          <a:xfrm>
            <a:off x="8869680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五面向填空，右邊即時組好</a:t>
            </a:r>
            <a:endParaRPr lang="en-US" sz="1400" dirty="0"/>
          </a:p>
        </p:txBody>
      </p:sp>
      <p:sp>
        <p:nvSpPr>
          <p:cNvPr id="8" name="tabDot_241"/>
          <p:cNvSpPr/>
          <p:nvPr/>
        </p:nvSpPr>
        <p:spPr>
          <a:xfrm>
            <a:off x="8229600" y="2221992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_242"/>
          <p:cNvSpPr txBox="1"/>
          <p:nvPr/>
        </p:nvSpPr>
        <p:spPr>
          <a:xfrm>
            <a:off x="822960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_243"/>
          <p:cNvSpPr txBox="1"/>
          <p:nvPr/>
        </p:nvSpPr>
        <p:spPr>
          <a:xfrm>
            <a:off x="886968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抓幻覺</a:t>
            </a:r>
            <a:endParaRPr lang="en-US" sz="1900" dirty="0"/>
          </a:p>
        </p:txBody>
      </p:sp>
      <p:sp>
        <p:nvSpPr>
          <p:cNvPr id="11" name="t_244"/>
          <p:cNvSpPr txBox="1"/>
          <p:nvPr/>
        </p:nvSpPr>
        <p:spPr>
          <a:xfrm>
            <a:off x="8869680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陷阱題＋查核三問</a:t>
            </a:r>
            <a:endParaRPr lang="en-US" sz="1400" dirty="0"/>
          </a:p>
        </p:txBody>
      </p:sp>
      <p:sp>
        <p:nvSpPr>
          <p:cNvPr id="12" name="tabDot_245"/>
          <p:cNvSpPr/>
          <p:nvPr/>
        </p:nvSpPr>
        <p:spPr>
          <a:xfrm>
            <a:off x="8229600" y="3090672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_246"/>
          <p:cNvSpPr txBox="1"/>
          <p:nvPr/>
        </p:nvSpPr>
        <p:spPr>
          <a:xfrm>
            <a:off x="822960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_247"/>
          <p:cNvSpPr txBox="1"/>
          <p:nvPr/>
        </p:nvSpPr>
        <p:spPr>
          <a:xfrm>
            <a:off x="886968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驗收帳</a:t>
            </a:r>
            <a:endParaRPr lang="en-US" sz="1900" dirty="0"/>
          </a:p>
        </p:txBody>
      </p:sp>
      <p:sp>
        <p:nvSpPr>
          <p:cNvPr id="15" name="t_248"/>
          <p:cNvSpPr txBox="1"/>
          <p:nvPr/>
        </p:nvSpPr>
        <p:spPr>
          <a:xfrm>
            <a:off x="8869680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先預測，再問 AI</a:t>
            </a:r>
            <a:endParaRPr lang="en-US" sz="1400" dirty="0"/>
          </a:p>
        </p:txBody>
      </p:sp>
      <p:sp>
        <p:nvSpPr>
          <p:cNvPr id="16" name="tabDot_249"/>
          <p:cNvSpPr/>
          <p:nvPr/>
        </p:nvSpPr>
        <p:spPr>
          <a:xfrm>
            <a:off x="8229600" y="3959352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_250"/>
          <p:cNvSpPr txBox="1"/>
          <p:nvPr/>
        </p:nvSpPr>
        <p:spPr>
          <a:xfrm>
            <a:off x="822960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_251"/>
          <p:cNvSpPr txBox="1"/>
          <p:nvPr/>
        </p:nvSpPr>
        <p:spPr>
          <a:xfrm>
            <a:off x="886968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提示卡與交件</a:t>
            </a:r>
            <a:endParaRPr lang="en-US" sz="1900" dirty="0"/>
          </a:p>
        </p:txBody>
      </p:sp>
      <p:sp>
        <p:nvSpPr>
          <p:cNvPr id="19" name="t_252"/>
          <p:cNvSpPr txBox="1"/>
          <p:nvPr/>
        </p:nvSpPr>
        <p:spPr>
          <a:xfrm>
            <a:off x="8869680" y="4270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☁ 交件上傳</a:t>
            </a:r>
            <a:endParaRPr lang="en-US" sz="1400" dirty="0"/>
          </a:p>
        </p:txBody>
      </p:sp>
      <p:pic>
        <p:nvPicPr>
          <p:cNvPr id="20" name="qrWeb_253" descr="/tmp/claude-0/-home-claude/9315ac37-6bce-57ff-8533-69e09da5de6f/scratchpad/handout/img/qr_w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800600"/>
            <a:ext cx="1325880" cy="1325880"/>
          </a:xfrm>
          <a:prstGeom prst="rect">
            <a:avLst/>
          </a:prstGeom>
        </p:spPr>
      </p:pic>
      <p:sp>
        <p:nvSpPr>
          <p:cNvPr id="21" name="t_254"/>
          <p:cNvSpPr txBox="1"/>
          <p:nvPr/>
        </p:nvSpPr>
        <p:spPr>
          <a:xfrm>
            <a:off x="9692640" y="4846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AI 班級碼</a:t>
            </a:r>
            <a:endParaRPr lang="en-US" sz="18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MIS2026</a:t>
            </a:r>
            <a:endParaRPr lang="en-US" sz="1800" dirty="0"/>
          </a:p>
        </p:txBody>
      </p:sp>
      <p:sp>
        <p:nvSpPr>
          <p:cNvPr id="22" name="t_255"/>
          <p:cNvSpPr txBox="1"/>
          <p:nvPr/>
        </p:nvSpPr>
        <p:spPr>
          <a:xfrm>
            <a:off x="548640" y="58064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pjkuo.github.io/ai-empower/crisp.html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工具②：Google 表單問卷版</a:t>
            </a:r>
            <a:endParaRPr lang="en-US" sz="3600" dirty="0"/>
          </a:p>
        </p:txBody>
      </p:sp>
      <p:sp>
        <p:nvSpPr>
          <p:cNvPr id="3" name="flow_256"/>
          <p:cNvSpPr/>
          <p:nvPr/>
        </p:nvSpPr>
        <p:spPr>
          <a:xfrm>
            <a:off x="548640" y="1417320"/>
            <a:ext cx="141732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_257"/>
          <p:cNvSpPr txBox="1"/>
          <p:nvPr/>
        </p:nvSpPr>
        <p:spPr>
          <a:xfrm>
            <a:off x="548640" y="14173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身分＋任務卡</a:t>
            </a:r>
            <a:endParaRPr lang="en-US" sz="1600" dirty="0"/>
          </a:p>
        </p:txBody>
      </p:sp>
      <p:sp>
        <p:nvSpPr>
          <p:cNvPr id="5" name="arr_258"/>
          <p:cNvSpPr/>
          <p:nvPr/>
        </p:nvSpPr>
        <p:spPr>
          <a:xfrm>
            <a:off x="1984248" y="1691640"/>
            <a:ext cx="146304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flow_259"/>
          <p:cNvSpPr/>
          <p:nvPr/>
        </p:nvSpPr>
        <p:spPr>
          <a:xfrm>
            <a:off x="2148840" y="1417320"/>
            <a:ext cx="141732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_260"/>
          <p:cNvSpPr txBox="1"/>
          <p:nvPr/>
        </p:nvSpPr>
        <p:spPr>
          <a:xfrm>
            <a:off x="2148840" y="14173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 背景</a:t>
            </a:r>
            <a:endParaRPr lang="en-US" sz="1600" dirty="0"/>
          </a:p>
        </p:txBody>
      </p:sp>
      <p:sp>
        <p:nvSpPr>
          <p:cNvPr id="8" name="arr_261"/>
          <p:cNvSpPr/>
          <p:nvPr/>
        </p:nvSpPr>
        <p:spPr>
          <a:xfrm>
            <a:off x="3584448" y="1691640"/>
            <a:ext cx="146304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flow_262"/>
          <p:cNvSpPr/>
          <p:nvPr/>
        </p:nvSpPr>
        <p:spPr>
          <a:xfrm>
            <a:off x="3749040" y="1417320"/>
            <a:ext cx="141732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_263"/>
          <p:cNvSpPr txBox="1"/>
          <p:nvPr/>
        </p:nvSpPr>
        <p:spPr>
          <a:xfrm>
            <a:off x="3749040" y="14173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 角色</a:t>
            </a:r>
            <a:endParaRPr lang="en-US" sz="1600" dirty="0"/>
          </a:p>
        </p:txBody>
      </p:sp>
      <p:sp>
        <p:nvSpPr>
          <p:cNvPr id="11" name="arr_264"/>
          <p:cNvSpPr/>
          <p:nvPr/>
        </p:nvSpPr>
        <p:spPr>
          <a:xfrm>
            <a:off x="5184648" y="1691640"/>
            <a:ext cx="146304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flow_265"/>
          <p:cNvSpPr/>
          <p:nvPr/>
        </p:nvSpPr>
        <p:spPr>
          <a:xfrm>
            <a:off x="5349240" y="1417320"/>
            <a:ext cx="1417320" cy="777240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_266"/>
          <p:cNvSpPr txBox="1"/>
          <p:nvPr/>
        </p:nvSpPr>
        <p:spPr>
          <a:xfrm>
            <a:off x="5349240" y="14173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 指令</a:t>
            </a:r>
            <a:endParaRPr lang="en-US" sz="1600" dirty="0"/>
          </a:p>
        </p:txBody>
      </p:sp>
      <p:sp>
        <p:nvSpPr>
          <p:cNvPr id="14" name="arr_267"/>
          <p:cNvSpPr/>
          <p:nvPr/>
        </p:nvSpPr>
        <p:spPr>
          <a:xfrm>
            <a:off x="6784848" y="1691640"/>
            <a:ext cx="146304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low_268"/>
          <p:cNvSpPr/>
          <p:nvPr/>
        </p:nvSpPr>
        <p:spPr>
          <a:xfrm>
            <a:off x="6949440" y="1417320"/>
            <a:ext cx="1417320" cy="777240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_269"/>
          <p:cNvSpPr txBox="1"/>
          <p:nvPr/>
        </p:nvSpPr>
        <p:spPr>
          <a:xfrm>
            <a:off x="6949440" y="14173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 規格</a:t>
            </a:r>
            <a:endParaRPr lang="en-US" sz="1600" dirty="0"/>
          </a:p>
        </p:txBody>
      </p:sp>
      <p:sp>
        <p:nvSpPr>
          <p:cNvPr id="17" name="arr_270"/>
          <p:cNvSpPr/>
          <p:nvPr/>
        </p:nvSpPr>
        <p:spPr>
          <a:xfrm>
            <a:off x="8385048" y="1691640"/>
            <a:ext cx="146304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flow_271"/>
          <p:cNvSpPr/>
          <p:nvPr/>
        </p:nvSpPr>
        <p:spPr>
          <a:xfrm>
            <a:off x="8549640" y="1417320"/>
            <a:ext cx="1417320" cy="777240"/>
          </a:xfrm>
          <a:prstGeom prst="roundRect">
            <a:avLst>
              <a:gd name="adj" fmla="val 1176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_272"/>
          <p:cNvSpPr txBox="1"/>
          <p:nvPr/>
        </p:nvSpPr>
        <p:spPr>
          <a:xfrm>
            <a:off x="8549640" y="14173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 驗證</a:t>
            </a:r>
            <a:endParaRPr lang="en-US" sz="1600" dirty="0"/>
          </a:p>
        </p:txBody>
      </p:sp>
      <p:sp>
        <p:nvSpPr>
          <p:cNvPr id="20" name="arr_273"/>
          <p:cNvSpPr/>
          <p:nvPr/>
        </p:nvSpPr>
        <p:spPr>
          <a:xfrm>
            <a:off x="9985248" y="1691640"/>
            <a:ext cx="146304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flow_274"/>
          <p:cNvSpPr/>
          <p:nvPr/>
        </p:nvSpPr>
        <p:spPr>
          <a:xfrm>
            <a:off x="10149840" y="1417320"/>
            <a:ext cx="1417320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_275"/>
          <p:cNvSpPr txBox="1"/>
          <p:nvPr/>
        </p:nvSpPr>
        <p:spPr>
          <a:xfrm>
            <a:off x="10149840" y="14173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送出</a:t>
            </a:r>
            <a:endParaRPr lang="en-US" sz="1600" dirty="0"/>
          </a:p>
        </p:txBody>
      </p:sp>
      <p:sp>
        <p:nvSpPr>
          <p:cNvPr id="23" name="t_276"/>
          <p:cNvSpPr txBox="1"/>
          <p:nvPr/>
        </p:nvSpPr>
        <p:spPr>
          <a:xfrm>
            <a:off x="548640" y="2331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I 選 IPO／分步驟、S 選表格／圖表／網頁／流程圖／Python，表單會跳到對應的填空頁</a:t>
            </a:r>
            <a:endParaRPr lang="en-US" sz="1600" dirty="0"/>
          </a:p>
        </p:txBody>
      </p:sp>
      <p:sp>
        <p:nvSpPr>
          <p:cNvPr id="24" name="card_277"/>
          <p:cNvSpPr/>
          <p:nvPr/>
        </p:nvSpPr>
        <p:spPr>
          <a:xfrm>
            <a:off x="548640" y="2971800"/>
            <a:ext cx="36118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72033">
                <a:alpha val="12000"/>
              </a:srgbClr>
            </a:outerShdw>
          </a:effectLst>
        </p:spPr>
      </p:sp>
      <p:sp>
        <p:nvSpPr>
          <p:cNvPr id="25" name="t_278"/>
          <p:cNvSpPr txBox="1"/>
          <p:nvPr/>
        </p:nvSpPr>
        <p:spPr>
          <a:xfrm>
            <a:off x="77724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自動組好提示</a:t>
            </a:r>
            <a:endParaRPr lang="en-US" sz="2000" dirty="0"/>
          </a:p>
        </p:txBody>
      </p:sp>
      <p:sp>
        <p:nvSpPr>
          <p:cNvPr id="26" name="t_279"/>
          <p:cNvSpPr txBox="1"/>
          <p:nvPr/>
        </p:nvSpPr>
        <p:spPr>
          <a:xfrm>
            <a:off x="77724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留白的格子，用任務卡範例補上並標示</a:t>
            </a:r>
            <a:endParaRPr lang="en-US" sz="1500" dirty="0"/>
          </a:p>
        </p:txBody>
      </p:sp>
      <p:sp>
        <p:nvSpPr>
          <p:cNvPr id="27" name="card_280"/>
          <p:cNvSpPr/>
          <p:nvPr/>
        </p:nvSpPr>
        <p:spPr>
          <a:xfrm>
            <a:off x="4343400" y="2971800"/>
            <a:ext cx="36118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72033">
                <a:alpha val="12000"/>
              </a:srgbClr>
            </a:outerShdw>
          </a:effectLst>
        </p:spPr>
      </p:sp>
      <p:sp>
        <p:nvSpPr>
          <p:cNvPr id="28" name="t_281"/>
          <p:cNvSpPr txBox="1"/>
          <p:nvPr/>
        </p:nvSpPr>
        <p:spPr>
          <a:xfrm>
            <a:off x="457200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Gemini 先回答一次</a:t>
            </a:r>
            <a:endParaRPr lang="en-US" sz="2000" dirty="0"/>
          </a:p>
        </p:txBody>
      </p:sp>
      <p:sp>
        <p:nvSpPr>
          <p:cNvPr id="29" name="t_282"/>
          <p:cNvSpPr txBox="1"/>
          <p:nvPr/>
        </p:nvSpPr>
        <p:spPr>
          <a:xfrm>
            <a:off x="457200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送出前選「要」</a:t>
            </a:r>
            <a:endParaRPr lang="en-US" sz="1500" dirty="0"/>
          </a:p>
        </p:txBody>
      </p:sp>
      <p:sp>
        <p:nvSpPr>
          <p:cNvPr id="30" name="card_283"/>
          <p:cNvSpPr/>
          <p:nvPr/>
        </p:nvSpPr>
        <p:spPr>
          <a:xfrm>
            <a:off x="548640" y="4434840"/>
            <a:ext cx="36118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72033">
                <a:alpha val="12000"/>
              </a:srgbClr>
            </a:outerShdw>
          </a:effectLst>
        </p:spPr>
      </p:sp>
      <p:sp>
        <p:nvSpPr>
          <p:cNvPr id="31" name="t_284"/>
          <p:cNvSpPr txBox="1"/>
          <p:nvPr/>
        </p:nvSpPr>
        <p:spPr>
          <a:xfrm>
            <a:off x="77724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寄到你的信箱</a:t>
            </a:r>
            <a:endParaRPr lang="en-US" sz="2000" dirty="0"/>
          </a:p>
        </p:txBody>
      </p:sp>
      <p:sp>
        <p:nvSpPr>
          <p:cNvPr id="32" name="t_285"/>
          <p:cNvSpPr txBox="1"/>
          <p:nvPr/>
        </p:nvSpPr>
        <p:spPr>
          <a:xfrm>
            <a:off x="777240" y="5074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有填 Email 才會寄，方便複製</a:t>
            </a:r>
            <a:endParaRPr lang="en-US" sz="1500" dirty="0"/>
          </a:p>
        </p:txBody>
      </p:sp>
      <p:sp>
        <p:nvSpPr>
          <p:cNvPr id="33" name="card_286"/>
          <p:cNvSpPr/>
          <p:nvPr/>
        </p:nvSpPr>
        <p:spPr>
          <a:xfrm>
            <a:off x="4343400" y="4434840"/>
            <a:ext cx="36118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72033">
                <a:alpha val="12000"/>
              </a:srgbClr>
            </a:outerShdw>
          </a:effectLst>
        </p:spPr>
      </p:sp>
      <p:sp>
        <p:nvSpPr>
          <p:cNvPr id="34" name="t_287"/>
          <p:cNvSpPr txBox="1"/>
          <p:nvPr/>
        </p:nvSpPr>
        <p:spPr>
          <a:xfrm>
            <a:off x="457200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進老師的評量資料庫</a:t>
            </a:r>
            <a:endParaRPr lang="en-US" sz="2000" dirty="0"/>
          </a:p>
        </p:txBody>
      </p:sp>
      <p:sp>
        <p:nvSpPr>
          <p:cNvPr id="35" name="t_288"/>
          <p:cNvSpPr txBox="1"/>
          <p:nvPr/>
        </p:nvSpPr>
        <p:spPr>
          <a:xfrm>
            <a:off x="4572000" y="5074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跟網頁版交件同一個地方</a:t>
            </a:r>
            <a:endParaRPr lang="en-US" sz="1500" dirty="0"/>
          </a:p>
        </p:txBody>
      </p:sp>
      <p:pic>
        <p:nvPicPr>
          <p:cNvPr id="36" name="qrForm_289" descr="/tmp/claude-0/-home-claude/9315ac37-6bce-57ff-8533-69e09da5de6f/scratchpad/handout/img/qr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971800"/>
            <a:ext cx="2194560" cy="2194560"/>
          </a:xfrm>
          <a:prstGeom prst="rect">
            <a:avLst/>
          </a:prstGeom>
        </p:spPr>
      </p:pic>
      <p:sp>
        <p:nvSpPr>
          <p:cNvPr id="37" name="t_290"/>
          <p:cNvSpPr txBox="1"/>
          <p:nvPr/>
        </p:nvSpPr>
        <p:spPr>
          <a:xfrm>
            <a:off x="7863840" y="5257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forms.gle/gE7LyjTX9HMxNqXcA</a:t>
            </a:r>
            <a:endParaRPr lang="en-US" sz="1700" dirty="0"/>
          </a:p>
        </p:txBody>
      </p:sp>
      <p:sp>
        <p:nvSpPr>
          <p:cNvPr id="38" name="t_291"/>
          <p:cNvSpPr txBox="1"/>
          <p:nvPr/>
        </p:nvSpPr>
        <p:spPr>
          <a:xfrm>
            <a:off x="7863840" y="5669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手機也能填；不能即時預覽，送出後才看到結果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實習 15 分鐘：做一張自己的提示卡</a:t>
            </a:r>
            <a:endParaRPr lang="en-US" sz="4000" dirty="0"/>
          </a:p>
        </p:txBody>
      </p:sp>
      <p:sp>
        <p:nvSpPr>
          <p:cNvPr id="3" name="min_292"/>
          <p:cNvSpPr/>
          <p:nvPr/>
        </p:nvSpPr>
        <p:spPr>
          <a:xfrm>
            <a:off x="731520" y="1691640"/>
            <a:ext cx="1234440" cy="96012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_293"/>
          <p:cNvSpPr txBox="1"/>
          <p:nvPr/>
        </p:nvSpPr>
        <p:spPr>
          <a:xfrm>
            <a:off x="731520" y="169164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 分</a:t>
            </a:r>
            <a:endParaRPr lang="en-US" sz="2600" dirty="0"/>
          </a:p>
        </p:txBody>
      </p:sp>
      <p:sp>
        <p:nvSpPr>
          <p:cNvPr id="5" name="t_294"/>
          <p:cNvSpPr txBox="1"/>
          <p:nvPr/>
        </p:nvSpPr>
        <p:spPr>
          <a:xfrm>
            <a:off x="2240280" y="16916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打開工坊</a:t>
            </a:r>
            <a:endParaRPr lang="en-US" sz="2800" dirty="0"/>
          </a:p>
        </p:txBody>
      </p:sp>
      <p:sp>
        <p:nvSpPr>
          <p:cNvPr id="6" name="t_295"/>
          <p:cNvSpPr txBox="1"/>
          <p:nvPr/>
        </p:nvSpPr>
        <p:spPr>
          <a:xfrm>
            <a:off x="4937760" y="169164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掃 QR 或輸入網址；填學號、姓名、班級、AI 班級碼 MIS2026</a:t>
            </a:r>
            <a:endParaRPr lang="en-US" sz="1900" dirty="0"/>
          </a:p>
        </p:txBody>
      </p:sp>
      <p:sp>
        <p:nvSpPr>
          <p:cNvPr id="7" name="min_296"/>
          <p:cNvSpPr/>
          <p:nvPr/>
        </p:nvSpPr>
        <p:spPr>
          <a:xfrm>
            <a:off x="731520" y="2862072"/>
            <a:ext cx="1234440" cy="96012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_297"/>
          <p:cNvSpPr txBox="1"/>
          <p:nvPr/>
        </p:nvSpPr>
        <p:spPr>
          <a:xfrm>
            <a:off x="731520" y="2862072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 分</a:t>
            </a:r>
            <a:endParaRPr lang="en-US" sz="2600" dirty="0"/>
          </a:p>
        </p:txBody>
      </p:sp>
      <p:sp>
        <p:nvSpPr>
          <p:cNvPr id="9" name="t_298"/>
          <p:cNvSpPr txBox="1"/>
          <p:nvPr/>
        </p:nvSpPr>
        <p:spPr>
          <a:xfrm>
            <a:off x="2240280" y="286207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填 CRISP</a:t>
            </a:r>
            <a:endParaRPr lang="en-US" sz="2800" dirty="0"/>
          </a:p>
        </p:txBody>
      </p:sp>
      <p:sp>
        <p:nvSpPr>
          <p:cNvPr id="10" name="t_299"/>
          <p:cNvSpPr txBox="1"/>
          <p:nvPr/>
        </p:nvSpPr>
        <p:spPr>
          <a:xfrm>
            <a:off x="4937760" y="2862072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選一張任務卡（或自己的題目），把 C R I S P 改成自己的版本，五個圓點全亮</a:t>
            </a:r>
            <a:endParaRPr lang="en-US" sz="1900" dirty="0"/>
          </a:p>
        </p:txBody>
      </p:sp>
      <p:sp>
        <p:nvSpPr>
          <p:cNvPr id="11" name="min_300"/>
          <p:cNvSpPr/>
          <p:nvPr/>
        </p:nvSpPr>
        <p:spPr>
          <a:xfrm>
            <a:off x="731520" y="4032504"/>
            <a:ext cx="1234440" cy="96012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_301"/>
          <p:cNvSpPr txBox="1"/>
          <p:nvPr/>
        </p:nvSpPr>
        <p:spPr>
          <a:xfrm>
            <a:off x="731520" y="4032504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 分</a:t>
            </a:r>
            <a:endParaRPr lang="en-US" sz="2600" dirty="0"/>
          </a:p>
        </p:txBody>
      </p:sp>
      <p:sp>
        <p:nvSpPr>
          <p:cNvPr id="13" name="t_302"/>
          <p:cNvSpPr txBox="1"/>
          <p:nvPr/>
        </p:nvSpPr>
        <p:spPr>
          <a:xfrm>
            <a:off x="2240280" y="403250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問 AI、驗證</a:t>
            </a:r>
            <a:endParaRPr lang="en-US" sz="2800" dirty="0"/>
          </a:p>
        </p:txBody>
      </p:sp>
      <p:sp>
        <p:nvSpPr>
          <p:cNvPr id="14" name="t_303"/>
          <p:cNvSpPr txBox="1"/>
          <p:nvPr/>
        </p:nvSpPr>
        <p:spPr>
          <a:xfrm>
            <a:off x="4937760" y="4032504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按「🤖 直接問 AI」；用你寫的 P 測試資料逐筆核對，抓一個錯或確認全對</a:t>
            </a:r>
            <a:endParaRPr lang="en-US" sz="1900" dirty="0"/>
          </a:p>
        </p:txBody>
      </p:sp>
      <p:sp>
        <p:nvSpPr>
          <p:cNvPr id="15" name="min_304"/>
          <p:cNvSpPr/>
          <p:nvPr/>
        </p:nvSpPr>
        <p:spPr>
          <a:xfrm>
            <a:off x="731520" y="5202936"/>
            <a:ext cx="1234440" cy="96012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_305"/>
          <p:cNvSpPr txBox="1"/>
          <p:nvPr/>
        </p:nvSpPr>
        <p:spPr>
          <a:xfrm>
            <a:off x="731520" y="5202936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 分</a:t>
            </a:r>
            <a:endParaRPr lang="en-US" sz="2600" dirty="0"/>
          </a:p>
        </p:txBody>
      </p:sp>
      <p:sp>
        <p:nvSpPr>
          <p:cNvPr id="17" name="t_306"/>
          <p:cNvSpPr txBox="1"/>
          <p:nvPr/>
        </p:nvSpPr>
        <p:spPr>
          <a:xfrm>
            <a:off x="2240280" y="520293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交件</a:t>
            </a:r>
            <a:endParaRPr lang="en-US" sz="2800" dirty="0"/>
          </a:p>
        </p:txBody>
      </p:sp>
      <p:sp>
        <p:nvSpPr>
          <p:cNvPr id="18" name="t_307"/>
          <p:cNvSpPr txBox="1"/>
          <p:nvPr/>
        </p:nvSpPr>
        <p:spPr>
          <a:xfrm>
            <a:off x="4937760" y="5202936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分頁 4 按「☁ 交件上傳」；看到「已上傳」才算完成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今天交什麼？課後怎麼補？</a:t>
            </a:r>
            <a:endParaRPr lang="en-US" sz="3600" dirty="0"/>
          </a:p>
        </p:txBody>
      </p:sp>
      <p:sp>
        <p:nvSpPr>
          <p:cNvPr id="3" name="card_308"/>
          <p:cNvSpPr/>
          <p:nvPr/>
        </p:nvSpPr>
        <p:spPr>
          <a:xfrm>
            <a:off x="548640" y="1280160"/>
            <a:ext cx="5120640" cy="4892040"/>
          </a:xfrm>
          <a:prstGeom prst="roundRect">
            <a:avLst>
              <a:gd name="adj" fmla="val 22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_309"/>
          <p:cNvSpPr txBox="1"/>
          <p:nvPr/>
        </p:nvSpPr>
        <p:spPr>
          <a:xfrm>
            <a:off x="77724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下課前（今天）</a:t>
            </a:r>
            <a:endParaRPr lang="en-US" sz="2200" dirty="0"/>
          </a:p>
        </p:txBody>
      </p:sp>
      <p:sp>
        <p:nvSpPr>
          <p:cNvPr id="5" name="t_310"/>
          <p:cNvSpPr txBox="1"/>
          <p:nvPr/>
        </p:nvSpPr>
        <p:spPr>
          <a:xfrm>
            <a:off x="777240" y="201168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CRISP 五個圓點全亮的提示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一次 AI 回答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用 P 驗證後，抓到的一個錯（或確認全對）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按「☁ 交件上傳」</a:t>
            </a:r>
            <a:endParaRPr lang="en-US" sz="2000" dirty="0"/>
          </a:p>
        </p:txBody>
      </p:sp>
      <p:sp>
        <p:nvSpPr>
          <p:cNvPr id="6" name="t_311"/>
          <p:cNvSpPr txBox="1"/>
          <p:nvPr/>
        </p:nvSpPr>
        <p:spPr>
          <a:xfrm>
            <a:off x="777240" y="5394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上傳後可以再改、再傳，老師看最新一筆。</a:t>
            </a:r>
            <a:endParaRPr lang="en-US" sz="1500" dirty="0"/>
          </a:p>
        </p:txBody>
      </p:sp>
      <p:sp>
        <p:nvSpPr>
          <p:cNvPr id="7" name="t_312"/>
          <p:cNvSpPr txBox="1"/>
          <p:nvPr/>
        </p:nvSpPr>
        <p:spPr>
          <a:xfrm>
            <a:off x="6035040" y="1325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完整版（3 天內補完，工坊會自動檢查）</a:t>
            </a:r>
            <a:endParaRPr lang="en-US" sz="2000" dirty="0"/>
          </a:p>
        </p:txBody>
      </p:sp>
      <p:sp>
        <p:nvSpPr>
          <p:cNvPr id="8" name="card_313"/>
          <p:cNvSpPr/>
          <p:nvPr/>
        </p:nvSpPr>
        <p:spPr>
          <a:xfrm>
            <a:off x="6035040" y="1920240"/>
            <a:ext cx="557784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9" name="t_314"/>
          <p:cNvSpPr txBox="1"/>
          <p:nvPr/>
        </p:nvSpPr>
        <p:spPr>
          <a:xfrm>
            <a:off x="6263640" y="19202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提示改寫對照表</a:t>
            </a:r>
            <a:endParaRPr lang="en-US" sz="1800" dirty="0"/>
          </a:p>
        </p:txBody>
      </p:sp>
      <p:sp>
        <p:nvSpPr>
          <p:cNvPr id="10" name="t_315"/>
          <p:cNvSpPr txBox="1"/>
          <p:nvPr/>
        </p:nvSpPr>
        <p:spPr>
          <a:xfrm>
            <a:off x="10424160" y="19202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25 分</a:t>
            </a:r>
            <a:endParaRPr lang="en-US" sz="1800" dirty="0"/>
          </a:p>
        </p:txBody>
      </p:sp>
      <p:sp>
        <p:nvSpPr>
          <p:cNvPr id="11" name="card_316"/>
          <p:cNvSpPr/>
          <p:nvPr/>
        </p:nvSpPr>
        <p:spPr>
          <a:xfrm>
            <a:off x="6035040" y="2706624"/>
            <a:ext cx="557784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2" name="t_317"/>
          <p:cNvSpPr txBox="1"/>
          <p:nvPr/>
        </p:nvSpPr>
        <p:spPr>
          <a:xfrm>
            <a:off x="6263640" y="270662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指定格式提示（S 規格）</a:t>
            </a:r>
            <a:endParaRPr lang="en-US" sz="1800" dirty="0"/>
          </a:p>
        </p:txBody>
      </p:sp>
      <p:sp>
        <p:nvSpPr>
          <p:cNvPr id="13" name="t_318"/>
          <p:cNvSpPr txBox="1"/>
          <p:nvPr/>
        </p:nvSpPr>
        <p:spPr>
          <a:xfrm>
            <a:off x="10424160" y="270662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15 分</a:t>
            </a:r>
            <a:endParaRPr lang="en-US" sz="1800" dirty="0"/>
          </a:p>
        </p:txBody>
      </p:sp>
      <p:sp>
        <p:nvSpPr>
          <p:cNvPr id="14" name="card_319"/>
          <p:cNvSpPr/>
          <p:nvPr/>
        </p:nvSpPr>
        <p:spPr>
          <a:xfrm>
            <a:off x="6035040" y="3493008"/>
            <a:ext cx="557784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5" name="t_320"/>
          <p:cNvSpPr txBox="1"/>
          <p:nvPr/>
        </p:nvSpPr>
        <p:spPr>
          <a:xfrm>
            <a:off x="6263640" y="349300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驗收帳（P 驗證）</a:t>
            </a:r>
            <a:endParaRPr lang="en-US" sz="1800" dirty="0"/>
          </a:p>
        </p:txBody>
      </p:sp>
      <p:sp>
        <p:nvSpPr>
          <p:cNvPr id="16" name="t_321"/>
          <p:cNvSpPr txBox="1"/>
          <p:nvPr/>
        </p:nvSpPr>
        <p:spPr>
          <a:xfrm>
            <a:off x="10424160" y="349300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30 分</a:t>
            </a:r>
            <a:endParaRPr lang="en-US" sz="1800" dirty="0"/>
          </a:p>
        </p:txBody>
      </p:sp>
      <p:sp>
        <p:nvSpPr>
          <p:cNvPr id="17" name="card_322"/>
          <p:cNvSpPr/>
          <p:nvPr/>
        </p:nvSpPr>
        <p:spPr>
          <a:xfrm>
            <a:off x="6035040" y="4279392"/>
            <a:ext cx="557784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8" name="t_323"/>
          <p:cNvSpPr txBox="1"/>
          <p:nvPr/>
        </p:nvSpPr>
        <p:spPr>
          <a:xfrm>
            <a:off x="6263640" y="427939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提示卡＋修改紀錄（至少 2 版）</a:t>
            </a:r>
            <a:endParaRPr lang="en-US" sz="1800" dirty="0"/>
          </a:p>
        </p:txBody>
      </p:sp>
      <p:sp>
        <p:nvSpPr>
          <p:cNvPr id="19" name="t_324"/>
          <p:cNvSpPr txBox="1"/>
          <p:nvPr/>
        </p:nvSpPr>
        <p:spPr>
          <a:xfrm>
            <a:off x="10424160" y="427939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20 分</a:t>
            </a:r>
            <a:endParaRPr lang="en-US" sz="1800" dirty="0"/>
          </a:p>
        </p:txBody>
      </p:sp>
      <p:sp>
        <p:nvSpPr>
          <p:cNvPr id="20" name="card_325"/>
          <p:cNvSpPr/>
          <p:nvPr/>
        </p:nvSpPr>
        <p:spPr>
          <a:xfrm>
            <a:off x="6035040" y="5065776"/>
            <a:ext cx="557784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21" name="t_326"/>
          <p:cNvSpPr txBox="1"/>
          <p:nvPr/>
        </p:nvSpPr>
        <p:spPr>
          <a:xfrm>
            <a:off x="6263640" y="50657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互評與 AI 使用聲明</a:t>
            </a:r>
            <a:endParaRPr lang="en-US" sz="1800" dirty="0"/>
          </a:p>
        </p:txBody>
      </p:sp>
      <p:sp>
        <p:nvSpPr>
          <p:cNvPr id="22" name="t_327"/>
          <p:cNvSpPr txBox="1"/>
          <p:nvPr/>
        </p:nvSpPr>
        <p:spPr>
          <a:xfrm>
            <a:off x="10424160" y="506577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10 分</a:t>
            </a:r>
            <a:endParaRPr lang="en-US" sz="1800" dirty="0"/>
          </a:p>
        </p:txBody>
      </p:sp>
      <p:sp>
        <p:nvSpPr>
          <p:cNvPr id="23" name="t_328"/>
          <p:cNvSpPr txBox="1"/>
          <p:nvPr/>
        </p:nvSpPr>
        <p:spPr>
          <a:xfrm>
            <a:off x="6035040" y="5897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另外存成 Word「學號_提示工程」上傳 Moodle，附兩份 AI 答案截圖。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先思考，後驗證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461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交代清楚（C R I S P），AI 才做得對；親手驗證（P），成果才算你的。</a:t>
            </a:r>
            <a:endParaRPr lang="en-US" sz="2400" dirty="0"/>
          </a:p>
        </p:txBody>
      </p:sp>
      <p:pic>
        <p:nvPicPr>
          <p:cNvPr id="4" name="qrW2_329" descr="/tmp/claude-0/-home-claude/9315ac37-6bce-57ff-8533-69e09da5de6f/scratchpad/handout/img/qr_w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343400"/>
            <a:ext cx="1371600" cy="1371600"/>
          </a:xfrm>
          <a:prstGeom prst="rect">
            <a:avLst/>
          </a:prstGeom>
        </p:spPr>
      </p:pic>
      <p:sp>
        <p:nvSpPr>
          <p:cNvPr id="5" name="t_330"/>
          <p:cNvSpPr txBox="1"/>
          <p:nvPr/>
        </p:nvSpPr>
        <p:spPr>
          <a:xfrm>
            <a:off x="2286000" y="45720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網頁版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pjkuo.github.io/ai-empower/crisp.html</a:t>
            </a:r>
            <a:endParaRPr lang="en-US" sz="1800" dirty="0"/>
          </a:p>
        </p:txBody>
      </p:sp>
      <p:pic>
        <p:nvPicPr>
          <p:cNvPr id="6" name="qrF2_331" descr="/tmp/claude-0/-home-claude/9315ac37-6bce-57ff-8533-69e09da5de6f/scratchpad/handout/img/qr_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4343400"/>
            <a:ext cx="1371600" cy="1371600"/>
          </a:xfrm>
          <a:prstGeom prst="rect">
            <a:avLst/>
          </a:prstGeom>
        </p:spPr>
      </p:pic>
      <p:sp>
        <p:nvSpPr>
          <p:cNvPr id="7" name="t_332"/>
          <p:cNvSpPr txBox="1"/>
          <p:nvPr/>
        </p:nvSpPr>
        <p:spPr>
          <a:xfrm>
            <a:off x="8046720" y="4572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表單版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forms.gle/gE7LyjTX9HMxNqXcA</a:t>
            </a:r>
            <a:endParaRPr lang="en-US" sz="1800" dirty="0"/>
          </a:p>
        </p:txBody>
      </p:sp>
      <p:sp>
        <p:nvSpPr>
          <p:cNvPr id="8" name="t_333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AI 使用聲明三行：我用了哪個 AI／AI 幫我做了什麼／哪些是我自己判斷與修改的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ISP 提示工坊">
  <a:themeElements>
    <a:clrScheme name="CRISP 提示工坊">
      <a:dk1>
        <a:srgbClr val="172033"/>
      </a:dk1>
      <a:lt1>
        <a:srgbClr val="FFFFFF"/>
      </a:lt1>
      <a:dk2>
        <a:srgbClr val="18233A"/>
      </a:dk2>
      <a:lt2>
        <a:srgbClr val="ECEFF3"/>
      </a:lt2>
      <a:accent1>
        <a:srgbClr val="0E7F83"/>
      </a:accent1>
      <a:accent2>
        <a:srgbClr val="6B4BC0"/>
      </a:accent2>
      <a:accent3>
        <a:srgbClr val="2152D4"/>
      </a:accent3>
      <a:accent4>
        <a:srgbClr val="9A5B00"/>
      </a:accent4>
      <a:accent5>
        <a:srgbClr val="BE3655"/>
      </a:accent5>
      <a:accent6>
        <a:srgbClr val="5A6476"/>
      </a:accent6>
      <a:hlink>
        <a:srgbClr val="2152D4"/>
      </a:hlink>
      <a:folHlink>
        <a:srgbClr val="6B4BC0"/>
      </a:folHlink>
    </a:clrScheme>
    <a:fontScheme name="CRISP 提示工坊">
      <a:majorFont>
        <a:latin typeface="標楷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軟正黑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國立屏東科技大學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CRISP 提示工程｜第 10 週</dc:title>
  <dc:subject>PptxGenJS Presentation</dc:subject>
  <dc:creator>郭博仁（屏東科技大學）</dc:creator>
  <cp:lastModifiedBy>郭博仁（屏東科技大學）</cp:lastModifiedBy>
  <cp:revision>1</cp:revision>
  <dcterms:created xsi:type="dcterms:W3CDTF">2026-10-30T05:20:39Z</dcterms:created>
  <dcterms:modified xsi:type="dcterms:W3CDTF">2026-10-30T05:20:39Z</dcterms:modified>
</cp:coreProperties>
</file>